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852" autoAdjust="0"/>
  </p:normalViewPr>
  <p:slideViewPr>
    <p:cSldViewPr snapToGrid="0" snapToObjects="1">
      <p:cViewPr varScale="1">
        <p:scale>
          <a:sx n="74" d="100"/>
          <a:sy n="74" d="100"/>
        </p:scale>
        <p:origin x="1013"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524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Beats per minute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Does stress affect sleep quality?</a:t>
            </a:r>
          </a:p>
          <a:p>
            <a:endParaRPr lang="en-US" dirty="0"/>
          </a:p>
          <a:p>
            <a:r>
              <a:rPr lang="en-US" dirty="0"/>
              <a:t>This is a scatterplot showing the relationship between </a:t>
            </a:r>
            <a:r>
              <a:rPr lang="en-US" b="1" dirty="0"/>
              <a:t>Stress Level</a:t>
            </a:r>
            <a:r>
              <a:rPr lang="en-US" dirty="0"/>
              <a:t> (x-axis, 1–10) and </a:t>
            </a:r>
            <a:r>
              <a:rPr lang="en-US" b="1" dirty="0"/>
              <a:t>Quality of Sleep</a:t>
            </a:r>
            <a:r>
              <a:rPr lang="en-US" dirty="0"/>
              <a:t> (y-axis, 1–10), with each point colored by whether that person has a Sleep Disorder (None, Sleep Apnea, or Insomnia). There's a clear downward trend — as stress increases, sleep quality decreases. Notably, the color pattern isn't random: at low stress (3–5), most points are blue ("None"), while at high stress (7–8), the points shift heavily to red and orange (Sleep Apnea and Insomnia). This suggests stress isn't just associated with </a:t>
            </a:r>
            <a:r>
              <a:rPr lang="en-US" i="1" dirty="0"/>
              <a:t>feeling</a:t>
            </a:r>
            <a:r>
              <a:rPr lang="en-US" dirty="0"/>
              <a:t> like you slept worse, but is also linked to actually having a diagnosed sleep disorder.</a:t>
            </a:r>
          </a:p>
          <a:p>
            <a:endParaRPr lang="en-US" dirty="0"/>
          </a:p>
          <a:p>
            <a:r>
              <a:rPr lang="en-US" dirty="0"/>
              <a:t>Sleep Apnea actually is: it's a physical breathing disruption during sleep, which someone can have without </a:t>
            </a:r>
            <a:r>
              <a:rPr lang="en-US" i="1" dirty="0"/>
              <a:t>consciously feeling</a:t>
            </a:r>
            <a:r>
              <a:rPr lang="en-US" dirty="0"/>
              <a:t> stressed or rating their sleep as poor — it's often diagnosed by a partner noticing snoring/breathing pauses, not by how rested the person feels</a:t>
            </a:r>
          </a:p>
          <a:p>
            <a:endParaRPr lang="en-US" dirty="0"/>
          </a:p>
          <a:p>
            <a:pPr rtl="0"/>
            <a:r>
              <a:rPr lang="en-US" b="1" dirty="0"/>
              <a:t>Insomnia</a:t>
            </a:r>
            <a:r>
              <a:rPr lang="en-US" dirty="0"/>
              <a:t> is a sleep disorder where a person has trouble falling asleep, staying asleep, or getting good-quality sleep — even when they have the chance to sleep. People with insomnia often:</a:t>
            </a:r>
          </a:p>
          <a:p>
            <a:pPr rtl="0">
              <a:buFont typeface="Arial" panose="020B0604020202020204" pitchFamily="34" charset="0"/>
              <a:buChar char="•"/>
            </a:pPr>
            <a:r>
              <a:rPr lang="en-US" dirty="0"/>
              <a:t>Take a long time to fall asleep</a:t>
            </a:r>
          </a:p>
          <a:p>
            <a:pPr rtl="0">
              <a:buFont typeface="Arial" panose="020B0604020202020204" pitchFamily="34" charset="0"/>
              <a:buChar char="•"/>
            </a:pPr>
            <a:r>
              <a:rPr lang="en-US" dirty="0"/>
              <a:t>Wake up frequently during the night</a:t>
            </a:r>
          </a:p>
          <a:p>
            <a:pPr rtl="0">
              <a:buFont typeface="Arial" panose="020B0604020202020204" pitchFamily="34" charset="0"/>
              <a:buChar char="•"/>
            </a:pPr>
            <a:r>
              <a:rPr lang="en-US" dirty="0"/>
              <a:t>Wake up too early and can't get back to sleep</a:t>
            </a:r>
          </a:p>
          <a:p>
            <a:pPr rtl="0">
              <a:buFont typeface="Arial" panose="020B0604020202020204" pitchFamily="34" charset="0"/>
              <a:buChar char="•"/>
            </a:pPr>
            <a:r>
              <a:rPr lang="en-US" dirty="0"/>
              <a:t>Feel tired, irritable, or unfocused during the day, despite spending time in bed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sleep quality vary by occupation?</a:t>
            </a:r>
          </a:p>
          <a:p>
            <a:endParaRPr lang="en-US" dirty="0"/>
          </a:p>
          <a:p>
            <a:pPr rtl="0"/>
            <a:r>
              <a:rPr lang="en-US" dirty="0"/>
              <a:t>Each box represents the spread of Quality of Sleep scores (1–10) for people in that occupation. The line inside each box is the </a:t>
            </a:r>
            <a:r>
              <a:rPr lang="en-US" b="1" dirty="0"/>
              <a:t>median</a:t>
            </a:r>
            <a:r>
              <a:rPr lang="en-US" dirty="0"/>
              <a:t> — the actual "typical" value — while the box edges show the middle 50% of scores, and the dots above/below are outliers.</a:t>
            </a:r>
          </a:p>
          <a:p>
            <a:pPr rtl="0"/>
            <a:r>
              <a:rPr lang="en-US" b="1" dirty="0"/>
              <a:t>Reading it correctly, occupation by occupation:</a:t>
            </a:r>
            <a:endParaRPr lang="en-US" dirty="0"/>
          </a:p>
          <a:p>
            <a:pPr rtl="0">
              <a:buFont typeface="Arial" panose="020B0604020202020204" pitchFamily="34" charset="0"/>
              <a:buChar char="•"/>
            </a:pPr>
            <a:r>
              <a:rPr lang="en-US" b="1" dirty="0"/>
              <a:t>Engineer</a:t>
            </a:r>
            <a:r>
              <a:rPr lang="en-US" dirty="0"/>
              <a:t> has the highest median (9.0) with a fairly tight box — most engineers cluster near the top</a:t>
            </a:r>
          </a:p>
          <a:p>
            <a:pPr rtl="0">
              <a:buFont typeface="Arial" panose="020B0604020202020204" pitchFamily="34" charset="0"/>
              <a:buChar char="•"/>
            </a:pPr>
            <a:r>
              <a:rPr lang="en-US" b="1" dirty="0"/>
              <a:t>Accountant and Lawyer</a:t>
            </a:r>
            <a:r>
              <a:rPr lang="en-US" dirty="0"/>
              <a:t> both sit at a median of 8.0</a:t>
            </a:r>
          </a:p>
          <a:p>
            <a:pPr rtl="0">
              <a:buFont typeface="Arial" panose="020B0604020202020204" pitchFamily="34" charset="0"/>
              <a:buChar char="•"/>
            </a:pPr>
            <a:r>
              <a:rPr lang="en-US" b="1" dirty="0"/>
              <a:t>Nurse</a:t>
            </a:r>
            <a:r>
              <a:rPr lang="en-US" dirty="0"/>
              <a:t> </a:t>
            </a:r>
            <a:r>
              <a:rPr lang="en-US" i="1" dirty="0"/>
              <a:t>looks</a:t>
            </a:r>
            <a:r>
              <a:rPr lang="en-US" dirty="0"/>
              <a:t> like it has a high median because the box is tall (spanning 6 to 9), but the median line itself is actually near the bottom of that box, around 6 — so "Nurses sleep best" is a visual illusion caused by how spread out their scores are, not their typical value</a:t>
            </a:r>
          </a:p>
          <a:p>
            <a:pPr rtl="0">
              <a:buFont typeface="Arial" panose="020B0604020202020204" pitchFamily="34" charset="0"/>
              <a:buChar char="•"/>
            </a:pPr>
            <a:r>
              <a:rPr lang="en-US" b="1" dirty="0"/>
              <a:t>Doctor, Manager, Software Engineer, Teacher</a:t>
            </a:r>
            <a:r>
              <a:rPr lang="en-US" dirty="0"/>
              <a:t> cluster in the middle, around 7</a:t>
            </a:r>
          </a:p>
          <a:p>
            <a:pPr rtl="0">
              <a:buFont typeface="Arial" panose="020B0604020202020204" pitchFamily="34" charset="0"/>
              <a:buChar char="•"/>
            </a:pPr>
            <a:r>
              <a:rPr lang="en-US" b="1" dirty="0"/>
              <a:t>Salesperson</a:t>
            </a:r>
            <a:r>
              <a:rPr lang="en-US" dirty="0"/>
              <a:t> sits at 6</a:t>
            </a:r>
          </a:p>
          <a:p>
            <a:pPr rtl="0">
              <a:buFont typeface="Arial" panose="020B0604020202020204" pitchFamily="34" charset="0"/>
              <a:buChar char="•"/>
            </a:pPr>
            <a:r>
              <a:rPr lang="en-US" b="1" dirty="0"/>
              <a:t>Scientist and Sales Representative</a:t>
            </a:r>
            <a:r>
              <a:rPr lang="en-US" dirty="0"/>
              <a:t> appear lowest, but only have 4 and 2 people in the entire dataset — far too few to trust as a real pattern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Which BMI categories are linked to sleep disorder? Body Mass Index</a:t>
            </a:r>
          </a:p>
          <a:p>
            <a:endParaRPr lang="en-US" dirty="0"/>
          </a:p>
          <a:p>
            <a:r>
              <a:rPr lang="en-US" dirty="0"/>
              <a:t>For each BMI category (Normal, Overweight, Obese), the bars show how many people fall into each Sleep Disorder group: None (blue), Sleep Apnea (red), or Insomnia (gold).</a:t>
            </a:r>
          </a:p>
          <a:p>
            <a:r>
              <a:rPr lang="en-US" b="1" dirty="0"/>
              <a:t>Reading it with the actual numbers:</a:t>
            </a:r>
            <a:endParaRPr lang="en-US" dirty="0"/>
          </a:p>
          <a:p>
            <a:pPr>
              <a:buFont typeface="Arial" panose="020B0604020202020204" pitchFamily="34" charset="0"/>
              <a:buChar char="•"/>
            </a:pPr>
            <a:r>
              <a:rPr lang="en-US" b="1" dirty="0"/>
              <a:t>Normal BMI (216 people):</a:t>
            </a:r>
            <a:r>
              <a:rPr lang="en-US" dirty="0"/>
              <a:t> Only </a:t>
            </a:r>
            <a:r>
              <a:rPr lang="en-US" b="1" dirty="0"/>
              <a:t>7.4%</a:t>
            </a:r>
            <a:r>
              <a:rPr lang="en-US" dirty="0"/>
              <a:t> have a sleep disorder — 200 report None, just 7 have Sleep Apnea, 9 have Insomnia. This is the healthiest-looking group by far.</a:t>
            </a:r>
          </a:p>
          <a:p>
            <a:pPr>
              <a:buFont typeface="Arial" panose="020B0604020202020204" pitchFamily="34" charset="0"/>
              <a:buChar char="•"/>
            </a:pPr>
            <a:r>
              <a:rPr lang="en-US" b="1" dirty="0"/>
              <a:t>Overweight (148 people):</a:t>
            </a:r>
            <a:r>
              <a:rPr lang="en-US" dirty="0"/>
              <a:t> A dramatic shift — </a:t>
            </a:r>
            <a:r>
              <a:rPr lang="en-US" b="1" dirty="0"/>
              <a:t>87.2%</a:t>
            </a:r>
            <a:r>
              <a:rPr lang="en-US" dirty="0"/>
              <a:t> have a sleep disorder (65 Sleep Apnea, 64 Insomnia), against only 19 with none. Despite Overweight having far fewer people than Normal, its disorder counts (65, 64) are nearly as high as </a:t>
            </a:r>
            <a:r>
              <a:rPr lang="en-US" dirty="0" err="1"/>
              <a:t>Normal's</a:t>
            </a:r>
            <a:r>
              <a:rPr lang="en-US" dirty="0"/>
              <a:t> </a:t>
            </a:r>
            <a:r>
              <a:rPr lang="en-US" i="1" dirty="0"/>
              <a:t>entire</a:t>
            </a:r>
            <a:r>
              <a:rPr lang="en-US" dirty="0"/>
              <a:t> "None" count.</a:t>
            </a:r>
          </a:p>
          <a:p>
            <a:pPr>
              <a:buFont typeface="Arial" panose="020B0604020202020204" pitchFamily="34" charset="0"/>
              <a:buChar char="•"/>
            </a:pPr>
            <a:r>
              <a:rPr lang="en-US" b="1" dirty="0"/>
              <a:t>Obese (10 people):</a:t>
            </a:r>
            <a:r>
              <a:rPr lang="en-US" dirty="0"/>
              <a:t> </a:t>
            </a:r>
            <a:r>
              <a:rPr lang="en-US" b="1" dirty="0"/>
              <a:t>100%</a:t>
            </a:r>
            <a:r>
              <a:rPr lang="en-US" dirty="0"/>
              <a:t> have a sleep disorder (6 Sleep Apnea, 4 Insomnia) — no one reports "None." This is a striking pattern, but worth noting out loud: the sample is tiny (only 10 people), so while the </a:t>
            </a:r>
            <a:r>
              <a:rPr lang="en-US" i="1" dirty="0"/>
              <a:t>direction</a:t>
            </a:r>
            <a:r>
              <a:rPr lang="en-US" dirty="0"/>
              <a:t> is consistent with Overweight, the "100%" figure specifically shouldn't be oversold as a precise, generalizable number.</a:t>
            </a:r>
          </a:p>
          <a:p>
            <a:r>
              <a:rPr lang="en-US" dirty="0"/>
              <a:t>Genuinely</a:t>
            </a:r>
          </a:p>
          <a:p>
            <a:r>
              <a:rPr lang="en-US" dirty="0"/>
              <a:t>large, consistent jump — BMI category, more than stress or occupation, cleanly separates people with disorders from those without in this dataset. That's a legitimate, well-supported insight to lead with in your presentation.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"with occupation acting as a real-world proxy for both"</a:t>
            </a:r>
            <a:br>
              <a:rPr lang="en-US" dirty="0"/>
            </a:br>
            <a:r>
              <a:rPr lang="en-US" dirty="0"/>
              <a:t>→ This means: occupation itself probably isn't the direct cause of poor sleep — it's standing in for other things, like how stressful or demanding that job tends to be. A "Scientist" job title doesn't cause bad sleep; the workload, pressure, or irregular hours that often come with that job might.</a:t>
            </a:r>
          </a:p>
          <a:p>
            <a:endParaRPr lang="en-US" dirty="0"/>
          </a:p>
          <a:p>
            <a:endParaRPr lang="en-US" dirty="0"/>
          </a:p>
          <a:p>
            <a:r>
              <a:rPr lang="en-US" dirty="0"/>
              <a:t>Another conclusion could be : Sleep quality in this dataset is shaped most clearly by stress level and body weight. Higher stress consistently tracks with Insomnia and lower self-rated sleep quality, while Overweight and Obese individuals show a dramatic jump in sleep disorder rates compared to Normal BMI (from roughly 7% up to 87%+). Occupation shows some variation too, but the pattern is inconsistent — it isn't a clean stand-in for stress or weight. Managing stress and maintaining a healthy weight stand out as the clearest, most actionable levers for better sleep.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3D"/>
        </a:solidFill>
        <a:effectLst/>
      </p:bgPr>
    </p:bg>
    <p:spTree>
      <p:nvGrpSpPr>
        <p:cNvPr id="1" name=""/>
        <p:cNvGrpSpPr/>
        <p:nvPr/>
      </p:nvGrpSpPr>
      <p:grpSpPr>
        <a:xfrm>
          <a:off x="0" y="0"/>
          <a:ext cx="0" cy="0"/>
          <a:chOff x="0" y="0"/>
          <a:chExt cx="0" cy="0"/>
        </a:xfrm>
      </p:grpSpPr>
      <p:sp>
        <p:nvSpPr>
          <p:cNvPr id="2" name="Shape 0"/>
          <p:cNvSpPr/>
          <p:nvPr/>
        </p:nvSpPr>
        <p:spPr>
          <a:xfrm>
            <a:off x="9052560" y="-1828800"/>
            <a:ext cx="5943600" cy="5943600"/>
          </a:xfrm>
          <a:prstGeom prst="ellipse">
            <a:avLst/>
          </a:prstGeom>
          <a:solidFill>
            <a:srgbClr val="50808E">
              <a:alpha val="45000"/>
            </a:srgbClr>
          </a:solidFill>
          <a:ln/>
        </p:spPr>
      </p:sp>
      <p:sp>
        <p:nvSpPr>
          <p:cNvPr id="3" name="Shape 1"/>
          <p:cNvSpPr/>
          <p:nvPr/>
        </p:nvSpPr>
        <p:spPr>
          <a:xfrm>
            <a:off x="10332720" y="4206240"/>
            <a:ext cx="3291840" cy="3291840"/>
          </a:xfrm>
          <a:prstGeom prst="ellipse">
            <a:avLst/>
          </a:prstGeom>
          <a:solidFill>
            <a:srgbClr val="84B59F">
              <a:alpha val="40000"/>
            </a:srgbClr>
          </a:solidFill>
          <a:ln/>
        </p:spPr>
      </p:sp>
      <p:sp>
        <p:nvSpPr>
          <p:cNvPr id="4" name="Text 2"/>
          <p:cNvSpPr/>
          <p:nvPr/>
        </p:nvSpPr>
        <p:spPr>
          <a:xfrm>
            <a:off x="822960" y="2148840"/>
            <a:ext cx="8686800" cy="457200"/>
          </a:xfrm>
          <a:prstGeom prst="rect">
            <a:avLst/>
          </a:prstGeom>
          <a:noFill/>
          <a:ln/>
        </p:spPr>
        <p:txBody>
          <a:bodyPr wrap="square" rtlCol="0" anchor="ctr"/>
          <a:lstStyle/>
          <a:p>
            <a:pPr marL="0" indent="0">
              <a:buNone/>
            </a:pPr>
            <a:r>
              <a:rPr lang="en-US" sz="1400" b="1" kern="0" spc="300" dirty="0">
                <a:solidFill>
                  <a:srgbClr val="84B59F"/>
                </a:solidFill>
                <a:latin typeface="Calibri" pitchFamily="34" charset="0"/>
                <a:ea typeface="Calibri" pitchFamily="34" charset="-122"/>
                <a:cs typeface="Calibri" pitchFamily="34" charset="-120"/>
              </a:rPr>
              <a:t>SLEEP HEALTH &amp; LIFESTYLE</a:t>
            </a:r>
            <a:endParaRPr lang="en-US" sz="1400" dirty="0"/>
          </a:p>
        </p:txBody>
      </p:sp>
      <p:sp>
        <p:nvSpPr>
          <p:cNvPr id="5" name="Text 3"/>
          <p:cNvSpPr/>
          <p:nvPr/>
        </p:nvSpPr>
        <p:spPr>
          <a:xfrm>
            <a:off x="777240" y="2514600"/>
            <a:ext cx="960120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Lifestyle Factors and Sleep Health</a:t>
            </a:r>
            <a:endParaRPr lang="en-US" sz="4400" dirty="0"/>
          </a:p>
        </p:txBody>
      </p:sp>
      <p:sp>
        <p:nvSpPr>
          <p:cNvPr id="6" name="Text 4"/>
          <p:cNvSpPr/>
          <p:nvPr/>
        </p:nvSpPr>
        <p:spPr>
          <a:xfrm>
            <a:off x="822960" y="3611880"/>
            <a:ext cx="8686800" cy="548640"/>
          </a:xfrm>
          <a:prstGeom prst="rect">
            <a:avLst/>
          </a:prstGeom>
          <a:noFill/>
          <a:ln/>
        </p:spPr>
        <p:txBody>
          <a:bodyPr wrap="square" rtlCol="0" anchor="ctr"/>
          <a:lstStyle/>
          <a:p>
            <a:pPr marL="0" indent="0">
              <a:buNone/>
            </a:pPr>
            <a:r>
              <a:rPr lang="en-US" i="1" dirty="0">
                <a:solidFill>
                  <a:srgbClr val="F4F1EC"/>
                </a:solidFill>
                <a:latin typeface="Calibri" pitchFamily="34" charset="0"/>
                <a:ea typeface="Calibri" pitchFamily="34" charset="-122"/>
                <a:cs typeface="Calibri" pitchFamily="34" charset="-120"/>
              </a:rPr>
              <a:t>What lifestyle and health factors are linked to sleep quality and sleep disorders?</a:t>
            </a:r>
            <a:endParaRPr lang="en-US" dirty="0"/>
          </a:p>
        </p:txBody>
      </p:sp>
      <p:sp>
        <p:nvSpPr>
          <p:cNvPr id="7" name="Text 5"/>
          <p:cNvSpPr/>
          <p:nvPr/>
        </p:nvSpPr>
        <p:spPr>
          <a:xfrm>
            <a:off x="822960" y="5760720"/>
            <a:ext cx="8686800" cy="731520"/>
          </a:xfrm>
          <a:prstGeom prst="rect">
            <a:avLst/>
          </a:prstGeom>
          <a:noFill/>
          <a:ln/>
        </p:spPr>
        <p:txBody>
          <a:bodyPr wrap="square" rtlCol="0" anchor="ctr"/>
          <a:lstStyle/>
          <a:p>
            <a:pPr marL="0" indent="0">
              <a:spcAft>
                <a:spcPts val="600"/>
              </a:spcAft>
              <a:buNone/>
            </a:pPr>
            <a:r>
              <a:rPr lang="en-US" sz="1300" dirty="0">
                <a:solidFill>
                  <a:srgbClr val="F4F1EC"/>
                </a:solidFill>
                <a:latin typeface="Calibri" pitchFamily="34" charset="0"/>
                <a:ea typeface="Calibri" pitchFamily="34" charset="-122"/>
                <a:cs typeface="Calibri" pitchFamily="34" charset="-120"/>
              </a:rPr>
              <a:t>Dataset: Sleep Health and Lifestyle Dataset (Kaggle)</a:t>
            </a:r>
            <a:endParaRPr lang="en-US" sz="1300" dirty="0"/>
          </a:p>
          <a:p>
            <a:pPr marL="0" indent="0">
              <a:spcAft>
                <a:spcPts val="600"/>
              </a:spcAft>
              <a:buNone/>
            </a:pPr>
            <a:r>
              <a:rPr lang="en-US" sz="1300" dirty="0">
                <a:solidFill>
                  <a:srgbClr val="F4F1EC"/>
                </a:solidFill>
                <a:latin typeface="Calibri" pitchFamily="34" charset="0"/>
                <a:ea typeface="Calibri" pitchFamily="34" charset="-122"/>
                <a:cs typeface="Calibri" pitchFamily="34" charset="-120"/>
              </a:rPr>
              <a:t>Presented by: </a:t>
            </a:r>
            <a:r>
              <a:rPr lang="en-US" sz="1300" dirty="0" err="1">
                <a:solidFill>
                  <a:srgbClr val="F4F1EC"/>
                </a:solidFill>
                <a:latin typeface="Calibri" pitchFamily="34" charset="0"/>
                <a:ea typeface="Calibri" pitchFamily="34" charset="-122"/>
                <a:cs typeface="Calibri" pitchFamily="34" charset="-120"/>
              </a:rPr>
              <a:t>Mubashra</a:t>
            </a:r>
            <a:r>
              <a:rPr lang="en-US" sz="1300" dirty="0">
                <a:solidFill>
                  <a:srgbClr val="F4F1EC"/>
                </a:solidFill>
                <a:latin typeface="Calibri" pitchFamily="34" charset="0"/>
                <a:ea typeface="Calibri" pitchFamily="34" charset="-122"/>
                <a:cs typeface="Calibri" pitchFamily="34" charset="-120"/>
              </a:rPr>
              <a:t> Munir   </a:t>
            </a:r>
            <a:endParaRPr lang="en-US" sz="1300" dirty="0"/>
          </a:p>
        </p:txBody>
      </p:sp>
      <p:sp>
        <p:nvSpPr>
          <p:cNvPr id="8" name="Text 6"/>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000" b="1" dirty="0">
                <a:solidFill>
                  <a:srgbClr val="263238"/>
                </a:solidFill>
                <a:latin typeface="Cambria" pitchFamily="34" charset="0"/>
                <a:ea typeface="Cambria" pitchFamily="34" charset="-122"/>
                <a:cs typeface="Cambria" pitchFamily="34" charset="-120"/>
              </a:rPr>
              <a:t>Problem &amp; Dataset Overview</a:t>
            </a:r>
            <a:endParaRPr lang="en-US" sz="3000" dirty="0"/>
          </a:p>
        </p:txBody>
      </p:sp>
      <p:sp>
        <p:nvSpPr>
          <p:cNvPr id="3" name="Shape 1"/>
          <p:cNvSpPr/>
          <p:nvPr/>
        </p:nvSpPr>
        <p:spPr>
          <a:xfrm>
            <a:off x="548640" y="1051560"/>
            <a:ext cx="502920" cy="54864"/>
          </a:xfrm>
          <a:prstGeom prst="rect">
            <a:avLst/>
          </a:prstGeom>
          <a:solidFill>
            <a:srgbClr val="E7A94A"/>
          </a:solidFill>
          <a:ln/>
        </p:spPr>
      </p:sp>
      <p:sp>
        <p:nvSpPr>
          <p:cNvPr id="4" name="Text 2"/>
          <p:cNvSpPr/>
          <p:nvPr/>
        </p:nvSpPr>
        <p:spPr>
          <a:xfrm>
            <a:off x="548640" y="1417320"/>
            <a:ext cx="6035040" cy="365760"/>
          </a:xfrm>
          <a:prstGeom prst="rect">
            <a:avLst/>
          </a:prstGeom>
          <a:noFill/>
          <a:ln/>
        </p:spPr>
        <p:txBody>
          <a:bodyPr wrap="square" rtlCol="0" anchor="ctr"/>
          <a:lstStyle/>
          <a:p>
            <a:pPr marL="0" indent="0">
              <a:buNone/>
            </a:pPr>
            <a:r>
              <a:rPr lang="en-US" sz="1600" b="1" dirty="0">
                <a:solidFill>
                  <a:srgbClr val="50808E"/>
                </a:solidFill>
                <a:latin typeface="Cambria" pitchFamily="34" charset="0"/>
                <a:ea typeface="Cambria" pitchFamily="34" charset="-122"/>
                <a:cs typeface="Cambria" pitchFamily="34" charset="-120"/>
              </a:rPr>
              <a:t>Research Question</a:t>
            </a:r>
            <a:endParaRPr lang="en-US" sz="1600" dirty="0"/>
          </a:p>
        </p:txBody>
      </p:sp>
      <p:sp>
        <p:nvSpPr>
          <p:cNvPr id="5" name="Text 3"/>
          <p:cNvSpPr/>
          <p:nvPr/>
        </p:nvSpPr>
        <p:spPr>
          <a:xfrm>
            <a:off x="548640" y="1783080"/>
            <a:ext cx="6035040" cy="914400"/>
          </a:xfrm>
          <a:prstGeom prst="rect">
            <a:avLst/>
          </a:prstGeom>
          <a:noFill/>
          <a:ln/>
        </p:spPr>
        <p:txBody>
          <a:bodyPr wrap="square" rtlCol="0" anchor="ctr"/>
          <a:lstStyle/>
          <a:p>
            <a:pPr marL="0" indent="0">
              <a:buNone/>
            </a:pPr>
            <a:r>
              <a:rPr lang="en-US" sz="1700" i="1" dirty="0">
                <a:solidFill>
                  <a:srgbClr val="263238"/>
                </a:solidFill>
                <a:latin typeface="Calibri" pitchFamily="34" charset="0"/>
                <a:ea typeface="Calibri" pitchFamily="34" charset="-122"/>
                <a:cs typeface="Calibri" pitchFamily="34" charset="-120"/>
              </a:rPr>
              <a:t>“What lifestyle and health factors are linked to sleep quality and sleep disorders?”</a:t>
            </a:r>
            <a:endParaRPr lang="en-US" sz="1700" dirty="0"/>
          </a:p>
        </p:txBody>
      </p:sp>
      <p:sp>
        <p:nvSpPr>
          <p:cNvPr id="6" name="Text 4"/>
          <p:cNvSpPr/>
          <p:nvPr/>
        </p:nvSpPr>
        <p:spPr>
          <a:xfrm>
            <a:off x="548640" y="2834640"/>
            <a:ext cx="6035040" cy="365760"/>
          </a:xfrm>
          <a:prstGeom prst="rect">
            <a:avLst/>
          </a:prstGeom>
          <a:noFill/>
          <a:ln/>
        </p:spPr>
        <p:txBody>
          <a:bodyPr wrap="square" rtlCol="0" anchor="ctr"/>
          <a:lstStyle/>
          <a:p>
            <a:pPr marL="0" indent="0">
              <a:buNone/>
            </a:pPr>
            <a:r>
              <a:rPr lang="en-US" sz="1600" b="1" dirty="0">
                <a:solidFill>
                  <a:srgbClr val="50808E"/>
                </a:solidFill>
                <a:latin typeface="Cambria" pitchFamily="34" charset="0"/>
                <a:ea typeface="Cambria" pitchFamily="34" charset="-122"/>
                <a:cs typeface="Cambria" pitchFamily="34" charset="-120"/>
              </a:rPr>
              <a:t>Variable Types</a:t>
            </a:r>
            <a:endParaRPr lang="en-US" sz="1600" dirty="0"/>
          </a:p>
        </p:txBody>
      </p:sp>
      <p:sp>
        <p:nvSpPr>
          <p:cNvPr id="7" name="Shape 5"/>
          <p:cNvSpPr/>
          <p:nvPr/>
        </p:nvSpPr>
        <p:spPr>
          <a:xfrm>
            <a:off x="548640" y="3255264"/>
            <a:ext cx="109728" cy="109728"/>
          </a:xfrm>
          <a:prstGeom prst="ellipse">
            <a:avLst/>
          </a:prstGeom>
          <a:solidFill>
            <a:srgbClr val="69A297"/>
          </a:solidFill>
          <a:ln/>
        </p:spPr>
      </p:sp>
      <p:sp>
        <p:nvSpPr>
          <p:cNvPr id="8" name="Text 6"/>
          <p:cNvSpPr/>
          <p:nvPr/>
        </p:nvSpPr>
        <p:spPr>
          <a:xfrm>
            <a:off x="822960" y="3108960"/>
            <a:ext cx="5760720" cy="384048"/>
          </a:xfrm>
          <a:prstGeom prst="rect">
            <a:avLst/>
          </a:prstGeom>
          <a:noFill/>
          <a:ln/>
        </p:spPr>
        <p:txBody>
          <a:bodyPr wrap="square"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Numeric:  </a:t>
            </a:r>
            <a:r>
              <a:rPr lang="en-US" sz="1300" dirty="0">
                <a:solidFill>
                  <a:srgbClr val="5B6B68"/>
                </a:solidFill>
                <a:latin typeface="Calibri" pitchFamily="34" charset="0"/>
                <a:ea typeface="Calibri" pitchFamily="34" charset="-122"/>
                <a:cs typeface="Calibri" pitchFamily="34" charset="-120"/>
              </a:rPr>
              <a:t>Age, Heart Rate, Daily Steps, Sleep Duration</a:t>
            </a:r>
            <a:endParaRPr lang="en-US" sz="1300" dirty="0"/>
          </a:p>
        </p:txBody>
      </p:sp>
      <p:sp>
        <p:nvSpPr>
          <p:cNvPr id="9" name="Shape 7"/>
          <p:cNvSpPr/>
          <p:nvPr/>
        </p:nvSpPr>
        <p:spPr>
          <a:xfrm>
            <a:off x="548640" y="3694176"/>
            <a:ext cx="109728" cy="109728"/>
          </a:xfrm>
          <a:prstGeom prst="ellipse">
            <a:avLst/>
          </a:prstGeom>
          <a:solidFill>
            <a:srgbClr val="69A297"/>
          </a:solidFill>
          <a:ln/>
        </p:spPr>
      </p:sp>
      <p:sp>
        <p:nvSpPr>
          <p:cNvPr id="10" name="Text 8"/>
          <p:cNvSpPr/>
          <p:nvPr/>
        </p:nvSpPr>
        <p:spPr>
          <a:xfrm>
            <a:off x="822960" y="3547872"/>
            <a:ext cx="5760720" cy="384048"/>
          </a:xfrm>
          <a:prstGeom prst="rect">
            <a:avLst/>
          </a:prstGeom>
          <a:noFill/>
          <a:ln/>
        </p:spPr>
        <p:txBody>
          <a:bodyPr wrap="square"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Ordinal (1-10 scale):  </a:t>
            </a:r>
            <a:r>
              <a:rPr lang="en-US" sz="1300" dirty="0">
                <a:solidFill>
                  <a:srgbClr val="5B6B68"/>
                </a:solidFill>
                <a:latin typeface="Calibri" pitchFamily="34" charset="0"/>
                <a:ea typeface="Calibri" pitchFamily="34" charset="-122"/>
                <a:cs typeface="Calibri" pitchFamily="34" charset="-120"/>
              </a:rPr>
              <a:t>Quality of Sleep, Stress Level</a:t>
            </a:r>
            <a:endParaRPr lang="en-US" sz="1300" dirty="0"/>
          </a:p>
        </p:txBody>
      </p:sp>
      <p:sp>
        <p:nvSpPr>
          <p:cNvPr id="11" name="Shape 9"/>
          <p:cNvSpPr/>
          <p:nvPr/>
        </p:nvSpPr>
        <p:spPr>
          <a:xfrm>
            <a:off x="548640" y="4133088"/>
            <a:ext cx="109728" cy="109728"/>
          </a:xfrm>
          <a:prstGeom prst="ellipse">
            <a:avLst/>
          </a:prstGeom>
          <a:solidFill>
            <a:srgbClr val="69A297"/>
          </a:solidFill>
          <a:ln/>
        </p:spPr>
      </p:sp>
      <p:sp>
        <p:nvSpPr>
          <p:cNvPr id="12" name="Text 10"/>
          <p:cNvSpPr/>
          <p:nvPr/>
        </p:nvSpPr>
        <p:spPr>
          <a:xfrm>
            <a:off x="822960" y="3986784"/>
            <a:ext cx="5760720" cy="384048"/>
          </a:xfrm>
          <a:prstGeom prst="rect">
            <a:avLst/>
          </a:prstGeom>
          <a:noFill/>
          <a:ln/>
        </p:spPr>
        <p:txBody>
          <a:bodyPr wrap="square"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Categorical:  </a:t>
            </a:r>
            <a:r>
              <a:rPr lang="en-US" sz="1300" dirty="0">
                <a:solidFill>
                  <a:srgbClr val="5B6B68"/>
                </a:solidFill>
                <a:latin typeface="Calibri" pitchFamily="34" charset="0"/>
                <a:ea typeface="Calibri" pitchFamily="34" charset="-122"/>
                <a:cs typeface="Calibri" pitchFamily="34" charset="-120"/>
              </a:rPr>
              <a:t>Gender, Occupation, BMI Category, Sleep Disorder</a:t>
            </a:r>
            <a:endParaRPr lang="en-US" sz="1300" dirty="0"/>
          </a:p>
        </p:txBody>
      </p:sp>
      <p:sp>
        <p:nvSpPr>
          <p:cNvPr id="13" name="Shape 11"/>
          <p:cNvSpPr/>
          <p:nvPr/>
        </p:nvSpPr>
        <p:spPr>
          <a:xfrm>
            <a:off x="7223760" y="1463040"/>
            <a:ext cx="1371600" cy="1737360"/>
          </a:xfrm>
          <a:prstGeom prst="roundRect">
            <a:avLst>
              <a:gd name="adj" fmla="val 8000"/>
            </a:avLst>
          </a:prstGeom>
          <a:solidFill>
            <a:srgbClr val="F4F1EC"/>
          </a:solidFill>
          <a:ln/>
        </p:spPr>
      </p:sp>
      <p:sp>
        <p:nvSpPr>
          <p:cNvPr id="14" name="Text 12"/>
          <p:cNvSpPr/>
          <p:nvPr/>
        </p:nvSpPr>
        <p:spPr>
          <a:xfrm>
            <a:off x="7223760" y="1627632"/>
            <a:ext cx="1371600" cy="868680"/>
          </a:xfrm>
          <a:prstGeom prst="rect">
            <a:avLst/>
          </a:prstGeom>
          <a:noFill/>
          <a:ln/>
        </p:spPr>
        <p:txBody>
          <a:bodyPr wrap="square" rtlCol="0" anchor="ctr"/>
          <a:lstStyle/>
          <a:p>
            <a:pPr marL="0" indent="0" algn="ctr">
              <a:buNone/>
            </a:pPr>
            <a:r>
              <a:rPr lang="en-US" sz="3200" b="1" dirty="0">
                <a:solidFill>
                  <a:srgbClr val="50808E"/>
                </a:solidFill>
                <a:latin typeface="Cambria" pitchFamily="34" charset="0"/>
                <a:ea typeface="Cambria" pitchFamily="34" charset="-122"/>
                <a:cs typeface="Cambria" pitchFamily="34" charset="-120"/>
              </a:rPr>
              <a:t>374</a:t>
            </a:r>
            <a:endParaRPr lang="en-US" sz="3200" dirty="0"/>
          </a:p>
        </p:txBody>
      </p:sp>
      <p:sp>
        <p:nvSpPr>
          <p:cNvPr id="15" name="Text 13"/>
          <p:cNvSpPr/>
          <p:nvPr/>
        </p:nvSpPr>
        <p:spPr>
          <a:xfrm>
            <a:off x="7086600" y="2468880"/>
            <a:ext cx="1645920" cy="640080"/>
          </a:xfrm>
          <a:prstGeom prst="rect">
            <a:avLst/>
          </a:prstGeom>
          <a:noFill/>
          <a:ln/>
        </p:spPr>
        <p:txBody>
          <a:bodyPr wrap="square" rtlCol="0" anchor="ctr"/>
          <a:lstStyle/>
          <a:p>
            <a:pPr marL="0" indent="0" algn="ctr">
              <a:buNone/>
            </a:pPr>
            <a:r>
              <a:rPr lang="en-US" sz="1050" dirty="0">
                <a:solidFill>
                  <a:srgbClr val="5B6B68"/>
                </a:solidFill>
                <a:latin typeface="Calibri" pitchFamily="34" charset="0"/>
                <a:ea typeface="Calibri" pitchFamily="34" charset="-122"/>
                <a:cs typeface="Calibri" pitchFamily="34" charset="-120"/>
              </a:rPr>
              <a:t>People</a:t>
            </a:r>
            <a:endParaRPr lang="en-US" sz="1050" dirty="0"/>
          </a:p>
          <a:p>
            <a:pPr marL="0" indent="0" algn="ctr">
              <a:buNone/>
            </a:pPr>
            <a:r>
              <a:rPr lang="en-US" sz="1050" dirty="0">
                <a:solidFill>
                  <a:srgbClr val="5B6B68"/>
                </a:solidFill>
                <a:latin typeface="Calibri" pitchFamily="34" charset="0"/>
                <a:ea typeface="Calibri" pitchFamily="34" charset="-122"/>
                <a:cs typeface="Calibri" pitchFamily="34" charset="-120"/>
              </a:rPr>
              <a:t>Surveyed</a:t>
            </a:r>
            <a:endParaRPr lang="en-US" sz="1050" dirty="0"/>
          </a:p>
        </p:txBody>
      </p:sp>
      <p:sp>
        <p:nvSpPr>
          <p:cNvPr id="16" name="Shape 14"/>
          <p:cNvSpPr/>
          <p:nvPr/>
        </p:nvSpPr>
        <p:spPr>
          <a:xfrm>
            <a:off x="8778240" y="1463040"/>
            <a:ext cx="1371600" cy="1737360"/>
          </a:xfrm>
          <a:prstGeom prst="roundRect">
            <a:avLst>
              <a:gd name="adj" fmla="val 8000"/>
            </a:avLst>
          </a:prstGeom>
          <a:solidFill>
            <a:srgbClr val="F4F1EC"/>
          </a:solidFill>
          <a:ln/>
        </p:spPr>
      </p:sp>
      <p:sp>
        <p:nvSpPr>
          <p:cNvPr id="17" name="Text 15"/>
          <p:cNvSpPr/>
          <p:nvPr/>
        </p:nvSpPr>
        <p:spPr>
          <a:xfrm>
            <a:off x="8778240" y="1627632"/>
            <a:ext cx="1371600" cy="868680"/>
          </a:xfrm>
          <a:prstGeom prst="rect">
            <a:avLst/>
          </a:prstGeom>
          <a:noFill/>
          <a:ln/>
        </p:spPr>
        <p:txBody>
          <a:bodyPr wrap="square" rtlCol="0" anchor="ctr"/>
          <a:lstStyle/>
          <a:p>
            <a:pPr marL="0" indent="0" algn="ctr">
              <a:buNone/>
            </a:pPr>
            <a:r>
              <a:rPr lang="en-US" sz="3200" b="1" dirty="0">
                <a:solidFill>
                  <a:srgbClr val="50808E"/>
                </a:solidFill>
                <a:latin typeface="Cambria" pitchFamily="34" charset="0"/>
                <a:ea typeface="Cambria" pitchFamily="34" charset="-122"/>
                <a:cs typeface="Cambria" pitchFamily="34" charset="-120"/>
              </a:rPr>
              <a:t>13</a:t>
            </a:r>
            <a:endParaRPr lang="en-US" sz="3200" dirty="0"/>
          </a:p>
        </p:txBody>
      </p:sp>
      <p:sp>
        <p:nvSpPr>
          <p:cNvPr id="18" name="Text 16"/>
          <p:cNvSpPr/>
          <p:nvPr/>
        </p:nvSpPr>
        <p:spPr>
          <a:xfrm>
            <a:off x="8641080" y="2468880"/>
            <a:ext cx="1645920" cy="640080"/>
          </a:xfrm>
          <a:prstGeom prst="rect">
            <a:avLst/>
          </a:prstGeom>
          <a:noFill/>
          <a:ln/>
        </p:spPr>
        <p:txBody>
          <a:bodyPr wrap="square" rtlCol="0" anchor="ctr"/>
          <a:lstStyle/>
          <a:p>
            <a:pPr marL="0" indent="0" algn="ctr">
              <a:buNone/>
            </a:pPr>
            <a:r>
              <a:rPr lang="en-US" sz="1050" dirty="0">
                <a:solidFill>
                  <a:srgbClr val="5B6B68"/>
                </a:solidFill>
                <a:latin typeface="Calibri" pitchFamily="34" charset="0"/>
                <a:ea typeface="Calibri" pitchFamily="34" charset="-122"/>
                <a:cs typeface="Calibri" pitchFamily="34" charset="-120"/>
              </a:rPr>
              <a:t>Variables</a:t>
            </a:r>
            <a:endParaRPr lang="en-US" sz="1050" dirty="0"/>
          </a:p>
          <a:p>
            <a:pPr marL="0" indent="0" algn="ctr">
              <a:buNone/>
            </a:pPr>
            <a:r>
              <a:rPr lang="en-US" sz="1050" dirty="0">
                <a:solidFill>
                  <a:srgbClr val="5B6B68"/>
                </a:solidFill>
                <a:latin typeface="Calibri" pitchFamily="34" charset="0"/>
                <a:ea typeface="Calibri" pitchFamily="34" charset="-122"/>
                <a:cs typeface="Calibri" pitchFamily="34" charset="-120"/>
              </a:rPr>
              <a:t>Recorded</a:t>
            </a:r>
            <a:endParaRPr lang="en-US" sz="1050" dirty="0"/>
          </a:p>
        </p:txBody>
      </p:sp>
      <p:sp>
        <p:nvSpPr>
          <p:cNvPr id="19" name="Shape 17"/>
          <p:cNvSpPr/>
          <p:nvPr/>
        </p:nvSpPr>
        <p:spPr>
          <a:xfrm>
            <a:off x="10332720" y="1463040"/>
            <a:ext cx="1371600" cy="1737360"/>
          </a:xfrm>
          <a:prstGeom prst="roundRect">
            <a:avLst>
              <a:gd name="adj" fmla="val 8000"/>
            </a:avLst>
          </a:prstGeom>
          <a:solidFill>
            <a:srgbClr val="F4F1EC"/>
          </a:solidFill>
          <a:ln/>
        </p:spPr>
      </p:sp>
      <p:sp>
        <p:nvSpPr>
          <p:cNvPr id="20" name="Text 18"/>
          <p:cNvSpPr/>
          <p:nvPr/>
        </p:nvSpPr>
        <p:spPr>
          <a:xfrm>
            <a:off x="10332720" y="1627632"/>
            <a:ext cx="1371600" cy="868680"/>
          </a:xfrm>
          <a:prstGeom prst="rect">
            <a:avLst/>
          </a:prstGeom>
          <a:noFill/>
          <a:ln/>
        </p:spPr>
        <p:txBody>
          <a:bodyPr wrap="square" rtlCol="0" anchor="ctr"/>
          <a:lstStyle/>
          <a:p>
            <a:pPr marL="0" indent="0" algn="ctr">
              <a:buNone/>
            </a:pPr>
            <a:r>
              <a:rPr lang="en-US" sz="3200" b="1" dirty="0">
                <a:solidFill>
                  <a:srgbClr val="50808E"/>
                </a:solidFill>
                <a:latin typeface="Cambria" pitchFamily="34" charset="0"/>
                <a:ea typeface="Cambria" pitchFamily="34" charset="-122"/>
                <a:cs typeface="Cambria" pitchFamily="34" charset="-120"/>
              </a:rPr>
              <a:t>3</a:t>
            </a:r>
            <a:endParaRPr lang="en-US" sz="3200" dirty="0"/>
          </a:p>
        </p:txBody>
      </p:sp>
      <p:sp>
        <p:nvSpPr>
          <p:cNvPr id="21" name="Text 19"/>
          <p:cNvSpPr/>
          <p:nvPr/>
        </p:nvSpPr>
        <p:spPr>
          <a:xfrm>
            <a:off x="10195560" y="2468880"/>
            <a:ext cx="1645920" cy="640080"/>
          </a:xfrm>
          <a:prstGeom prst="rect">
            <a:avLst/>
          </a:prstGeom>
          <a:noFill/>
          <a:ln/>
        </p:spPr>
        <p:txBody>
          <a:bodyPr wrap="square" rtlCol="0" anchor="ctr"/>
          <a:lstStyle/>
          <a:p>
            <a:pPr marL="0" indent="0" algn="ctr">
              <a:buNone/>
            </a:pPr>
            <a:r>
              <a:rPr lang="en-US" sz="1050" dirty="0">
                <a:solidFill>
                  <a:srgbClr val="5B6B68"/>
                </a:solidFill>
                <a:latin typeface="Calibri" pitchFamily="34" charset="0"/>
                <a:ea typeface="Calibri" pitchFamily="34" charset="-122"/>
                <a:cs typeface="Calibri" pitchFamily="34" charset="-120"/>
              </a:rPr>
              <a:t>Sleep Disorder</a:t>
            </a:r>
            <a:endParaRPr lang="en-US" sz="1050" dirty="0"/>
          </a:p>
          <a:p>
            <a:pPr marL="0" indent="0" algn="ctr">
              <a:buNone/>
            </a:pPr>
            <a:r>
              <a:rPr lang="en-US" sz="1050" dirty="0">
                <a:solidFill>
                  <a:srgbClr val="5B6B68"/>
                </a:solidFill>
                <a:latin typeface="Calibri" pitchFamily="34" charset="0"/>
                <a:ea typeface="Calibri" pitchFamily="34" charset="-122"/>
                <a:cs typeface="Calibri" pitchFamily="34" charset="-120"/>
              </a:rPr>
              <a:t>Categories</a:t>
            </a:r>
            <a:endParaRPr lang="en-US" sz="1050" dirty="0"/>
          </a:p>
        </p:txBody>
      </p:sp>
      <p:sp>
        <p:nvSpPr>
          <p:cNvPr id="22" name="Shape 20"/>
          <p:cNvSpPr/>
          <p:nvPr/>
        </p:nvSpPr>
        <p:spPr>
          <a:xfrm>
            <a:off x="548640" y="4846320"/>
            <a:ext cx="11064240" cy="1417320"/>
          </a:xfrm>
          <a:prstGeom prst="roundRect">
            <a:avLst>
              <a:gd name="adj" fmla="val 6452"/>
            </a:avLst>
          </a:prstGeom>
          <a:solidFill>
            <a:srgbClr val="1F3A3D"/>
          </a:solidFill>
          <a:ln/>
        </p:spPr>
      </p:sp>
      <p:sp>
        <p:nvSpPr>
          <p:cNvPr id="23" name="Text 21"/>
          <p:cNvSpPr/>
          <p:nvPr/>
        </p:nvSpPr>
        <p:spPr>
          <a:xfrm>
            <a:off x="914400" y="5010912"/>
            <a:ext cx="4572000" cy="365760"/>
          </a:xfrm>
          <a:prstGeom prst="rect">
            <a:avLst/>
          </a:prstGeom>
          <a:noFill/>
          <a:ln/>
        </p:spPr>
        <p:txBody>
          <a:bodyPr wrap="square" rtlCol="0" anchor="ctr"/>
          <a:lstStyle/>
          <a:p>
            <a:pPr marL="0" indent="0">
              <a:buNone/>
            </a:pPr>
            <a:r>
              <a:rPr lang="en-US" sz="1500" b="1" dirty="0">
                <a:solidFill>
                  <a:srgbClr val="84B59F"/>
                </a:solidFill>
                <a:latin typeface="Cambria" pitchFamily="34" charset="0"/>
                <a:ea typeface="Cambria" pitchFamily="34" charset="-122"/>
                <a:cs typeface="Cambria" pitchFamily="34" charset="-120"/>
              </a:rPr>
              <a:t>Why this matters</a:t>
            </a:r>
            <a:endParaRPr lang="en-US" sz="1500" dirty="0"/>
          </a:p>
        </p:txBody>
      </p:sp>
      <p:sp>
        <p:nvSpPr>
          <p:cNvPr id="24" name="Text 22"/>
          <p:cNvSpPr/>
          <p:nvPr/>
        </p:nvSpPr>
        <p:spPr>
          <a:xfrm>
            <a:off x="914400" y="5376672"/>
            <a:ext cx="10332720" cy="822960"/>
          </a:xfrm>
          <a:prstGeom prst="rect">
            <a:avLst/>
          </a:prstGeom>
          <a:noFill/>
          <a:ln/>
        </p:spPr>
        <p:txBody>
          <a:bodyPr wrap="square" rtlCol="0" anchor="ctr"/>
          <a:lstStyle/>
          <a:p>
            <a:pPr marL="0" indent="0">
              <a:lnSpc>
                <a:spcPct val="120000"/>
              </a:lnSpc>
              <a:buNone/>
            </a:pPr>
            <a:r>
              <a:rPr lang="en-US" sz="1300" dirty="0">
                <a:solidFill>
                  <a:srgbClr val="F4F1EC"/>
                </a:solidFill>
                <a:latin typeface="Calibri" pitchFamily="34" charset="0"/>
                <a:ea typeface="Calibri" pitchFamily="34" charset="-122"/>
                <a:cs typeface="Calibri" pitchFamily="34" charset="-120"/>
              </a:rPr>
              <a:t>Sleep problems are widespread and closely tied to everyday habits. Understanding which lifestyle factors matter most can help identify people at risk and guide simple, practical interventions.</a:t>
            </a:r>
            <a:endParaRPr lang="en-US" sz="1300" dirty="0"/>
          </a:p>
        </p:txBody>
      </p:sp>
      <p:sp>
        <p:nvSpPr>
          <p:cNvPr id="25" name="Text 23"/>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263238"/>
                </a:solidFill>
                <a:latin typeface="Cambria" pitchFamily="34" charset="0"/>
                <a:ea typeface="Cambria" pitchFamily="34" charset="-122"/>
                <a:cs typeface="Cambria" pitchFamily="34" charset="-120"/>
              </a:rPr>
              <a:t>Data Cleaning</a:t>
            </a:r>
            <a:endParaRPr lang="en-US" sz="3000" dirty="0"/>
          </a:p>
        </p:txBody>
      </p:sp>
      <p:sp>
        <p:nvSpPr>
          <p:cNvPr id="3" name="Shape 1"/>
          <p:cNvSpPr/>
          <p:nvPr/>
        </p:nvSpPr>
        <p:spPr>
          <a:xfrm>
            <a:off x="548640" y="1051560"/>
            <a:ext cx="502920" cy="54864"/>
          </a:xfrm>
          <a:prstGeom prst="rect">
            <a:avLst/>
          </a:prstGeom>
          <a:solidFill>
            <a:srgbClr val="E7A94A"/>
          </a:solidFill>
          <a:ln/>
        </p:spPr>
      </p:sp>
      <p:sp>
        <p:nvSpPr>
          <p:cNvPr id="4" name="Shape 2"/>
          <p:cNvSpPr/>
          <p:nvPr/>
        </p:nvSpPr>
        <p:spPr>
          <a:xfrm>
            <a:off x="548640" y="1417320"/>
            <a:ext cx="3566160" cy="3063240"/>
          </a:xfrm>
          <a:prstGeom prst="roundRect">
            <a:avLst>
              <a:gd name="adj" fmla="val 2985"/>
            </a:avLst>
          </a:prstGeom>
          <a:solidFill>
            <a:srgbClr val="F4F1EC"/>
          </a:solidFill>
          <a:ln/>
          <a:effectLst>
            <a:outerShdw blurRad="76200" dist="25400" dir="5400000" algn="bl" rotWithShape="0">
              <a:srgbClr val="999999">
                <a:alpha val="25000"/>
              </a:srgbClr>
            </a:outerShdw>
          </a:effectLst>
        </p:spPr>
      </p:sp>
      <p:sp>
        <p:nvSpPr>
          <p:cNvPr id="5" name="Shape 3"/>
          <p:cNvSpPr/>
          <p:nvPr/>
        </p:nvSpPr>
        <p:spPr>
          <a:xfrm>
            <a:off x="822960" y="1691640"/>
            <a:ext cx="548640" cy="548640"/>
          </a:xfrm>
          <a:prstGeom prst="ellipse">
            <a:avLst/>
          </a:prstGeom>
          <a:solidFill>
            <a:srgbClr val="50808E"/>
          </a:solidFill>
          <a:ln/>
        </p:spPr>
      </p:sp>
      <p:sp>
        <p:nvSpPr>
          <p:cNvPr id="6" name="Text 4"/>
          <p:cNvSpPr/>
          <p:nvPr/>
        </p:nvSpPr>
        <p:spPr>
          <a:xfrm>
            <a:off x="822960" y="169164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22960" y="2423160"/>
            <a:ext cx="3017520" cy="640080"/>
          </a:xfrm>
          <a:prstGeom prst="rect">
            <a:avLst/>
          </a:prstGeom>
          <a:noFill/>
          <a:ln/>
        </p:spPr>
        <p:txBody>
          <a:bodyPr wrap="square" rtlCol="0" anchor="ctr"/>
          <a:lstStyle/>
          <a:p>
            <a:pPr marL="0" indent="0">
              <a:buNone/>
            </a:pPr>
            <a:r>
              <a:rPr lang="en-US" sz="1500" b="1" dirty="0">
                <a:solidFill>
                  <a:srgbClr val="263238"/>
                </a:solidFill>
                <a:latin typeface="Cambria" pitchFamily="34" charset="0"/>
                <a:ea typeface="Cambria" pitchFamily="34" charset="-122"/>
                <a:cs typeface="Cambria" pitchFamily="34" charset="-120"/>
              </a:rPr>
              <a:t>Missing Sleep Disorder values</a:t>
            </a:r>
            <a:endParaRPr lang="en-US" sz="1500" dirty="0"/>
          </a:p>
        </p:txBody>
      </p:sp>
      <p:sp>
        <p:nvSpPr>
          <p:cNvPr id="8" name="Text 6"/>
          <p:cNvSpPr/>
          <p:nvPr/>
        </p:nvSpPr>
        <p:spPr>
          <a:xfrm>
            <a:off x="822960" y="3063240"/>
            <a:ext cx="3017520" cy="1280160"/>
          </a:xfrm>
          <a:prstGeom prst="rect">
            <a:avLst/>
          </a:prstGeom>
          <a:noFill/>
          <a:ln/>
        </p:spPr>
        <p:txBody>
          <a:bodyPr wrap="square" rtlCol="0" anchor="ctr"/>
          <a:lstStyle/>
          <a:p>
            <a:pPr marL="0" indent="0">
              <a:lnSpc>
                <a:spcPct val="120000"/>
              </a:lnSpc>
              <a:buNone/>
            </a:pPr>
            <a:r>
              <a:rPr lang="en-US" sz="1200" dirty="0">
                <a:solidFill>
                  <a:srgbClr val="5B6B68"/>
                </a:solidFill>
                <a:latin typeface="Calibri" pitchFamily="34" charset="0"/>
                <a:ea typeface="Calibri" pitchFamily="34" charset="-122"/>
                <a:cs typeface="Calibri" pitchFamily="34" charset="-120"/>
              </a:rPr>
              <a:t>219 of 374 rows were blank. This meant “no disorder,” not truly unknown, filled with “None”.</a:t>
            </a:r>
            <a:endParaRPr lang="en-US" sz="1200" dirty="0"/>
          </a:p>
        </p:txBody>
      </p:sp>
      <p:sp>
        <p:nvSpPr>
          <p:cNvPr id="9" name="Shape 7"/>
          <p:cNvSpPr/>
          <p:nvPr/>
        </p:nvSpPr>
        <p:spPr>
          <a:xfrm>
            <a:off x="4343400" y="1417320"/>
            <a:ext cx="3566160" cy="3063240"/>
          </a:xfrm>
          <a:prstGeom prst="roundRect">
            <a:avLst>
              <a:gd name="adj" fmla="val 2985"/>
            </a:avLst>
          </a:prstGeom>
          <a:solidFill>
            <a:srgbClr val="F4F1EC"/>
          </a:solidFill>
          <a:ln/>
          <a:effectLst>
            <a:outerShdw blurRad="76200" dist="25400" dir="5400000" algn="bl" rotWithShape="0">
              <a:srgbClr val="999999">
                <a:alpha val="25000"/>
              </a:srgbClr>
            </a:outerShdw>
          </a:effectLst>
        </p:spPr>
      </p:sp>
      <p:sp>
        <p:nvSpPr>
          <p:cNvPr id="10" name="Shape 8"/>
          <p:cNvSpPr/>
          <p:nvPr/>
        </p:nvSpPr>
        <p:spPr>
          <a:xfrm>
            <a:off x="4617720" y="1691640"/>
            <a:ext cx="548640" cy="548640"/>
          </a:xfrm>
          <a:prstGeom prst="ellipse">
            <a:avLst/>
          </a:prstGeom>
          <a:solidFill>
            <a:srgbClr val="69A297"/>
          </a:solidFill>
          <a:ln/>
        </p:spPr>
      </p:sp>
      <p:sp>
        <p:nvSpPr>
          <p:cNvPr id="11" name="Text 9"/>
          <p:cNvSpPr/>
          <p:nvPr/>
        </p:nvSpPr>
        <p:spPr>
          <a:xfrm>
            <a:off x="4617720" y="169164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617720" y="2423160"/>
            <a:ext cx="3017520" cy="640080"/>
          </a:xfrm>
          <a:prstGeom prst="rect">
            <a:avLst/>
          </a:prstGeom>
          <a:noFill/>
          <a:ln/>
        </p:spPr>
        <p:txBody>
          <a:bodyPr wrap="square" rtlCol="0" anchor="ctr"/>
          <a:lstStyle/>
          <a:p>
            <a:pPr marL="0" indent="0">
              <a:buNone/>
            </a:pPr>
            <a:r>
              <a:rPr lang="en-US" sz="1500" b="1" dirty="0">
                <a:solidFill>
                  <a:srgbClr val="263238"/>
                </a:solidFill>
                <a:latin typeface="Cambria" pitchFamily="34" charset="0"/>
                <a:ea typeface="Cambria" pitchFamily="34" charset="-122"/>
                <a:cs typeface="Cambria" pitchFamily="34" charset="-120"/>
              </a:rPr>
              <a:t>Inconsistent BMI labels</a:t>
            </a:r>
            <a:endParaRPr lang="en-US" sz="1500" dirty="0"/>
          </a:p>
        </p:txBody>
      </p:sp>
      <p:sp>
        <p:nvSpPr>
          <p:cNvPr id="13" name="Text 11"/>
          <p:cNvSpPr/>
          <p:nvPr/>
        </p:nvSpPr>
        <p:spPr>
          <a:xfrm>
            <a:off x="4617720" y="3063240"/>
            <a:ext cx="3017520" cy="1280160"/>
          </a:xfrm>
          <a:prstGeom prst="rect">
            <a:avLst/>
          </a:prstGeom>
          <a:noFill/>
          <a:ln/>
        </p:spPr>
        <p:txBody>
          <a:bodyPr wrap="square" rtlCol="0" anchor="ctr"/>
          <a:lstStyle/>
          <a:p>
            <a:pPr marL="0" indent="0">
              <a:lnSpc>
                <a:spcPct val="120000"/>
              </a:lnSpc>
              <a:buNone/>
            </a:pPr>
            <a:r>
              <a:rPr lang="en-US" sz="1200" dirty="0">
                <a:solidFill>
                  <a:srgbClr val="5B6B68"/>
                </a:solidFill>
                <a:latin typeface="Calibri" pitchFamily="34" charset="0"/>
                <a:ea typeface="Calibri" pitchFamily="34" charset="-122"/>
                <a:cs typeface="Calibri" pitchFamily="34" charset="-120"/>
              </a:rPr>
              <a:t>“Normal” and “Normal Weight” described the same category, merged into one label.</a:t>
            </a:r>
            <a:endParaRPr lang="en-US" sz="1200" dirty="0"/>
          </a:p>
        </p:txBody>
      </p:sp>
      <p:sp>
        <p:nvSpPr>
          <p:cNvPr id="14" name="Shape 12"/>
          <p:cNvSpPr/>
          <p:nvPr/>
        </p:nvSpPr>
        <p:spPr>
          <a:xfrm>
            <a:off x="8138160" y="1417320"/>
            <a:ext cx="3566160" cy="3063240"/>
          </a:xfrm>
          <a:prstGeom prst="roundRect">
            <a:avLst>
              <a:gd name="adj" fmla="val 2985"/>
            </a:avLst>
          </a:prstGeom>
          <a:solidFill>
            <a:srgbClr val="F4F1EC"/>
          </a:solidFill>
          <a:ln/>
          <a:effectLst>
            <a:outerShdw blurRad="76200" dist="25400" dir="5400000" algn="bl" rotWithShape="0">
              <a:srgbClr val="999999">
                <a:alpha val="25000"/>
              </a:srgbClr>
            </a:outerShdw>
          </a:effectLst>
        </p:spPr>
      </p:sp>
      <p:sp>
        <p:nvSpPr>
          <p:cNvPr id="15" name="Shape 13"/>
          <p:cNvSpPr/>
          <p:nvPr/>
        </p:nvSpPr>
        <p:spPr>
          <a:xfrm>
            <a:off x="8412480" y="1691640"/>
            <a:ext cx="548640" cy="548640"/>
          </a:xfrm>
          <a:prstGeom prst="ellipse">
            <a:avLst/>
          </a:prstGeom>
          <a:solidFill>
            <a:srgbClr val="B85042"/>
          </a:solidFill>
          <a:ln/>
        </p:spPr>
      </p:sp>
      <p:sp>
        <p:nvSpPr>
          <p:cNvPr id="16" name="Text 14"/>
          <p:cNvSpPr/>
          <p:nvPr/>
        </p:nvSpPr>
        <p:spPr>
          <a:xfrm>
            <a:off x="8412480" y="1691640"/>
            <a:ext cx="548640" cy="54864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412480" y="2423160"/>
            <a:ext cx="3017520" cy="640080"/>
          </a:xfrm>
          <a:prstGeom prst="rect">
            <a:avLst/>
          </a:prstGeom>
          <a:noFill/>
          <a:ln/>
        </p:spPr>
        <p:txBody>
          <a:bodyPr wrap="square" rtlCol="0" anchor="ctr"/>
          <a:lstStyle/>
          <a:p>
            <a:pPr marL="0" indent="0">
              <a:buNone/>
            </a:pPr>
            <a:r>
              <a:rPr lang="en-US" sz="1500" b="1" dirty="0">
                <a:solidFill>
                  <a:srgbClr val="263238"/>
                </a:solidFill>
                <a:latin typeface="Cambria" pitchFamily="34" charset="0"/>
                <a:ea typeface="Cambria" pitchFamily="34" charset="-122"/>
                <a:cs typeface="Cambria" pitchFamily="34" charset="-120"/>
              </a:rPr>
              <a:t>Combined Blood Pressure field</a:t>
            </a:r>
            <a:endParaRPr lang="en-US" sz="1500" dirty="0"/>
          </a:p>
        </p:txBody>
      </p:sp>
      <p:sp>
        <p:nvSpPr>
          <p:cNvPr id="18" name="Text 16"/>
          <p:cNvSpPr/>
          <p:nvPr/>
        </p:nvSpPr>
        <p:spPr>
          <a:xfrm>
            <a:off x="8412480" y="3063240"/>
            <a:ext cx="3017520" cy="1280160"/>
          </a:xfrm>
          <a:prstGeom prst="rect">
            <a:avLst/>
          </a:prstGeom>
          <a:noFill/>
          <a:ln/>
        </p:spPr>
        <p:txBody>
          <a:bodyPr wrap="square" rtlCol="0" anchor="ctr"/>
          <a:lstStyle/>
          <a:p>
            <a:pPr marL="0" indent="0">
              <a:lnSpc>
                <a:spcPct val="120000"/>
              </a:lnSpc>
              <a:buNone/>
            </a:pPr>
            <a:r>
              <a:rPr lang="en-US" sz="1200" dirty="0">
                <a:solidFill>
                  <a:srgbClr val="5B6B68"/>
                </a:solidFill>
                <a:latin typeface="Calibri" pitchFamily="34" charset="0"/>
                <a:ea typeface="Calibri" pitchFamily="34" charset="-122"/>
                <a:cs typeface="Calibri" pitchFamily="34" charset="-120"/>
              </a:rPr>
              <a:t>Stored as text like “</a:t>
            </a:r>
            <a:r>
              <a:rPr lang="en-US" sz="1200">
                <a:solidFill>
                  <a:srgbClr val="5B6B68"/>
                </a:solidFill>
                <a:latin typeface="Calibri" pitchFamily="34" charset="0"/>
                <a:ea typeface="Calibri" pitchFamily="34" charset="-122"/>
                <a:cs typeface="Calibri" pitchFamily="34" charset="-120"/>
              </a:rPr>
              <a:t>126/83”, </a:t>
            </a:r>
            <a:r>
              <a:rPr lang="en-US" sz="1200" dirty="0">
                <a:solidFill>
                  <a:srgbClr val="5B6B68"/>
                </a:solidFill>
                <a:latin typeface="Calibri" pitchFamily="34" charset="0"/>
                <a:ea typeface="Calibri" pitchFamily="34" charset="-122"/>
                <a:cs typeface="Calibri" pitchFamily="34" charset="-120"/>
              </a:rPr>
              <a:t>split into numeric Systolic and Diastolic columns.</a:t>
            </a:r>
            <a:endParaRPr lang="en-US" sz="1200" dirty="0"/>
          </a:p>
        </p:txBody>
      </p:sp>
      <p:sp>
        <p:nvSpPr>
          <p:cNvPr id="19" name="Text 17"/>
          <p:cNvSpPr/>
          <p:nvPr/>
        </p:nvSpPr>
        <p:spPr>
          <a:xfrm>
            <a:off x="609600" y="5989320"/>
            <a:ext cx="10972800" cy="457200"/>
          </a:xfrm>
          <a:prstGeom prst="rect">
            <a:avLst/>
          </a:prstGeom>
          <a:noFill/>
          <a:ln/>
        </p:spPr>
        <p:txBody>
          <a:bodyPr wrap="square" rtlCol="0" anchor="ctr"/>
          <a:lstStyle/>
          <a:p>
            <a:r>
              <a:rPr lang="en-US" sz="1300" i="1" dirty="0">
                <a:solidFill>
                  <a:srgbClr val="5B6B68"/>
                </a:solidFill>
                <a:latin typeface="Calibri" pitchFamily="34" charset="0"/>
                <a:ea typeface="Calibri" pitchFamily="34" charset="-122"/>
                <a:cs typeface="Calibri" pitchFamily="34" charset="-120"/>
              </a:rPr>
              <a:t>Duplicate rows checked: none found  </a:t>
            </a:r>
            <a:endParaRPr lang="en-US" sz="1300" dirty="0"/>
          </a:p>
        </p:txBody>
      </p:sp>
      <p:sp>
        <p:nvSpPr>
          <p:cNvPr id="20" name="Text 18"/>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263238"/>
                </a:solidFill>
                <a:latin typeface="Cambria" pitchFamily="34" charset="0"/>
                <a:ea typeface="Cambria" pitchFamily="34" charset="-122"/>
                <a:cs typeface="Cambria" pitchFamily="34" charset="-120"/>
              </a:rPr>
              <a:t>Data Cleaning: Outlier Check</a:t>
            </a:r>
            <a:endParaRPr lang="en-US" sz="3000" dirty="0"/>
          </a:p>
        </p:txBody>
      </p:sp>
      <p:sp>
        <p:nvSpPr>
          <p:cNvPr id="3" name="Shape 1"/>
          <p:cNvSpPr/>
          <p:nvPr/>
        </p:nvSpPr>
        <p:spPr>
          <a:xfrm>
            <a:off x="548640" y="1051560"/>
            <a:ext cx="502920" cy="54864"/>
          </a:xfrm>
          <a:prstGeom prst="rect">
            <a:avLst/>
          </a:prstGeom>
          <a:solidFill>
            <a:srgbClr val="E7A94A"/>
          </a:solidFill>
          <a:ln/>
        </p:spPr>
      </p:sp>
      <p:pic>
        <p:nvPicPr>
          <p:cNvPr id="4" name="Image 0" descr="chart_heartrate.png"/>
          <p:cNvPicPr>
            <a:picLocks noChangeAspect="1"/>
          </p:cNvPicPr>
          <p:nvPr/>
        </p:nvPicPr>
        <p:blipFill>
          <a:blip r:embed="rId3"/>
          <a:stretch>
            <a:fillRect/>
          </a:stretch>
        </p:blipFill>
        <p:spPr>
          <a:xfrm>
            <a:off x="640080" y="1417320"/>
            <a:ext cx="3566160" cy="3520440"/>
          </a:xfrm>
          <a:prstGeom prst="rect">
            <a:avLst/>
          </a:prstGeom>
        </p:spPr>
      </p:pic>
      <p:sp>
        <p:nvSpPr>
          <p:cNvPr id="5" name="Text 2"/>
          <p:cNvSpPr/>
          <p:nvPr/>
        </p:nvSpPr>
        <p:spPr>
          <a:xfrm>
            <a:off x="4572000" y="1554480"/>
            <a:ext cx="6858000" cy="457200"/>
          </a:xfrm>
          <a:prstGeom prst="rect">
            <a:avLst/>
          </a:prstGeom>
          <a:noFill/>
          <a:ln/>
        </p:spPr>
        <p:txBody>
          <a:bodyPr wrap="square" rtlCol="0" anchor="ctr"/>
          <a:lstStyle/>
          <a:p>
            <a:pPr marL="0" indent="0">
              <a:buNone/>
            </a:pPr>
            <a:r>
              <a:rPr lang="en-US" sz="1800" b="1" dirty="0">
                <a:solidFill>
                  <a:srgbClr val="50808E"/>
                </a:solidFill>
                <a:latin typeface="Cambria" pitchFamily="34" charset="0"/>
                <a:ea typeface="Cambria" pitchFamily="34" charset="-122"/>
                <a:cs typeface="Cambria" pitchFamily="34" charset="-120"/>
              </a:rPr>
              <a:t>Only Heart Rate showed outliers</a:t>
            </a:r>
            <a:endParaRPr lang="en-US" sz="1800" dirty="0"/>
          </a:p>
        </p:txBody>
      </p:sp>
      <p:sp>
        <p:nvSpPr>
          <p:cNvPr id="6" name="Text 3"/>
          <p:cNvSpPr/>
          <p:nvPr/>
        </p:nvSpPr>
        <p:spPr>
          <a:xfrm>
            <a:off x="4572000" y="2148840"/>
            <a:ext cx="6858000" cy="2743200"/>
          </a:xfrm>
          <a:prstGeom prst="rect">
            <a:avLst/>
          </a:prstGeom>
          <a:noFill/>
          <a:ln/>
        </p:spPr>
        <p:txBody>
          <a:bodyPr wrap="square" rtlCol="0" anchor="ctr"/>
          <a:lstStyle/>
          <a:p>
            <a:pPr marL="342900" indent="-342900">
              <a:lnSpc>
                <a:spcPct val="115000"/>
              </a:lnSpc>
              <a:spcAft>
                <a:spcPts val="1400"/>
              </a:spcAft>
              <a:buSzPct val="100000"/>
              <a:buChar char="●"/>
            </a:pPr>
            <a:r>
              <a:rPr lang="en-US" sz="1400" dirty="0">
                <a:solidFill>
                  <a:srgbClr val="5B6B68"/>
                </a:solidFill>
                <a:latin typeface="Calibri" pitchFamily="34" charset="0"/>
                <a:ea typeface="Calibri" pitchFamily="34" charset="-122"/>
                <a:cs typeface="Calibri" pitchFamily="34" charset="-120"/>
              </a:rPr>
              <a:t>All other numeric columns (Age, Sleep Duration, Stress Level, Daily Steps, Systolic, Diastolic) showed no outliers.</a:t>
            </a:r>
            <a:endParaRPr lang="en-US" sz="1400" dirty="0"/>
          </a:p>
          <a:p>
            <a:pPr marL="342900" indent="-342900">
              <a:lnSpc>
                <a:spcPct val="115000"/>
              </a:lnSpc>
              <a:spcAft>
                <a:spcPts val="1400"/>
              </a:spcAft>
              <a:buSzPct val="100000"/>
              <a:buChar char="●"/>
            </a:pPr>
            <a:r>
              <a:rPr lang="en-US" sz="1400" dirty="0">
                <a:solidFill>
                  <a:srgbClr val="5B6B68"/>
                </a:solidFill>
                <a:latin typeface="Calibri" pitchFamily="34" charset="0"/>
                <a:ea typeface="Calibri" pitchFamily="34" charset="-122"/>
                <a:cs typeface="Calibri" pitchFamily="34" charset="-120"/>
              </a:rPr>
              <a:t>A few Heart Rate values sit around 80-86 bpm, above the main cluster.</a:t>
            </a:r>
            <a:endParaRPr lang="en-US" sz="1400" dirty="0"/>
          </a:p>
          <a:p>
            <a:pPr marL="342900" indent="-342900">
              <a:lnSpc>
                <a:spcPct val="115000"/>
              </a:lnSpc>
              <a:spcAft>
                <a:spcPts val="1400"/>
              </a:spcAft>
              <a:buSzPct val="100000"/>
              <a:buChar char="●"/>
            </a:pPr>
            <a:r>
              <a:rPr lang="en-US" sz="1400" dirty="0">
                <a:solidFill>
                  <a:srgbClr val="5B6B68"/>
                </a:solidFill>
                <a:latin typeface="Calibri" pitchFamily="34" charset="0"/>
                <a:ea typeface="Calibri" pitchFamily="34" charset="-122"/>
                <a:cs typeface="Calibri" pitchFamily="34" charset="-120"/>
              </a:rPr>
              <a:t>86 bpm is still a realistic resting heart rate, not an error.</a:t>
            </a:r>
            <a:endParaRPr lang="en-US" sz="1400" dirty="0"/>
          </a:p>
          <a:p>
            <a:pPr marL="342900" indent="-342900">
              <a:lnSpc>
                <a:spcPct val="115000"/>
              </a:lnSpc>
              <a:spcAft>
                <a:spcPts val="1400"/>
              </a:spcAft>
              <a:buSzPct val="100000"/>
              <a:buChar char="●"/>
            </a:pPr>
            <a:r>
              <a:rPr lang="en-US" sz="1400" b="1" dirty="0">
                <a:solidFill>
                  <a:srgbClr val="263238"/>
                </a:solidFill>
                <a:latin typeface="Calibri" pitchFamily="34" charset="0"/>
                <a:ea typeface="Calibri" pitchFamily="34" charset="-122"/>
                <a:cs typeface="Calibri" pitchFamily="34" charset="-120"/>
              </a:rPr>
              <a:t>Decision: Keeping these values. They likely reflect real differences in fitness or stress, which is useful signal, not just noise.</a:t>
            </a:r>
            <a:endParaRPr lang="en-US" sz="1400" dirty="0"/>
          </a:p>
        </p:txBody>
      </p:sp>
      <p:sp>
        <p:nvSpPr>
          <p:cNvPr id="7" name="Text 4"/>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601200" cy="594360"/>
          </a:xfrm>
          <a:prstGeom prst="rect">
            <a:avLst/>
          </a:prstGeom>
          <a:noFill/>
          <a:ln/>
        </p:spPr>
        <p:txBody>
          <a:bodyPr wrap="square" rtlCol="0" anchor="ctr"/>
          <a:lstStyle/>
          <a:p>
            <a:pPr marL="0" indent="0">
              <a:buNone/>
            </a:pPr>
            <a:r>
              <a:rPr lang="en-US" sz="2600" b="1" dirty="0">
                <a:solidFill>
                  <a:srgbClr val="263238"/>
                </a:solidFill>
                <a:latin typeface="Cambria" pitchFamily="34" charset="0"/>
                <a:ea typeface="Cambria" pitchFamily="34" charset="-122"/>
                <a:cs typeface="Cambria" pitchFamily="34" charset="-120"/>
              </a:rPr>
              <a:t>Stress Level vs Quality of Sleep</a:t>
            </a:r>
            <a:endParaRPr lang="en-US" sz="2600" dirty="0"/>
          </a:p>
        </p:txBody>
      </p:sp>
      <p:sp>
        <p:nvSpPr>
          <p:cNvPr id="3" name="Shape 1"/>
          <p:cNvSpPr/>
          <p:nvPr/>
        </p:nvSpPr>
        <p:spPr>
          <a:xfrm>
            <a:off x="548640" y="932688"/>
            <a:ext cx="502920" cy="45720"/>
          </a:xfrm>
          <a:prstGeom prst="rect">
            <a:avLst/>
          </a:prstGeom>
          <a:solidFill>
            <a:srgbClr val="B85042"/>
          </a:solidFill>
          <a:ln/>
        </p:spPr>
      </p:sp>
      <p:sp>
        <p:nvSpPr>
          <p:cNvPr id="4" name="Shape 2"/>
          <p:cNvSpPr/>
          <p:nvPr/>
        </p:nvSpPr>
        <p:spPr>
          <a:xfrm>
            <a:off x="457200" y="1188720"/>
            <a:ext cx="7955280" cy="5074920"/>
          </a:xfrm>
          <a:prstGeom prst="roundRect">
            <a:avLst>
              <a:gd name="adj" fmla="val 1441"/>
            </a:avLst>
          </a:prstGeom>
          <a:solidFill>
            <a:srgbClr val="F4F1EC"/>
          </a:solidFill>
          <a:ln/>
        </p:spPr>
      </p:sp>
      <p:pic>
        <p:nvPicPr>
          <p:cNvPr id="5" name="Image 0" descr="chart1_stress_quality.png"/>
          <p:cNvPicPr>
            <a:picLocks noChangeAspect="1"/>
          </p:cNvPicPr>
          <p:nvPr/>
        </p:nvPicPr>
        <p:blipFill>
          <a:blip r:embed="rId3"/>
          <a:stretch>
            <a:fillRect/>
          </a:stretch>
        </p:blipFill>
        <p:spPr>
          <a:xfrm>
            <a:off x="685800" y="1371600"/>
            <a:ext cx="7498080" cy="4663440"/>
          </a:xfrm>
          <a:prstGeom prst="rect">
            <a:avLst/>
          </a:prstGeom>
        </p:spPr>
      </p:pic>
      <p:sp>
        <p:nvSpPr>
          <p:cNvPr id="6" name="Shape 3"/>
          <p:cNvSpPr/>
          <p:nvPr/>
        </p:nvSpPr>
        <p:spPr>
          <a:xfrm>
            <a:off x="8595360" y="1188720"/>
            <a:ext cx="3063240" cy="5074920"/>
          </a:xfrm>
          <a:prstGeom prst="roundRect">
            <a:avLst>
              <a:gd name="adj" fmla="val 2388"/>
            </a:avLst>
          </a:prstGeom>
          <a:solidFill>
            <a:srgbClr val="1F3A3D"/>
          </a:solidFill>
          <a:ln/>
        </p:spPr>
      </p:sp>
      <p:sp>
        <p:nvSpPr>
          <p:cNvPr id="7" name="Text 4"/>
          <p:cNvSpPr/>
          <p:nvPr/>
        </p:nvSpPr>
        <p:spPr>
          <a:xfrm>
            <a:off x="8869680" y="1417320"/>
            <a:ext cx="2560320" cy="320040"/>
          </a:xfrm>
          <a:prstGeom prst="rect">
            <a:avLst/>
          </a:prstGeom>
          <a:noFill/>
          <a:ln/>
        </p:spPr>
        <p:txBody>
          <a:bodyPr wrap="square" rtlCol="0" anchor="ctr"/>
          <a:lstStyle/>
          <a:p>
            <a:pPr marL="0" indent="0">
              <a:buNone/>
            </a:pPr>
            <a:r>
              <a:rPr lang="en-US" sz="1200" b="1" kern="0" spc="200" dirty="0">
                <a:solidFill>
                  <a:srgbClr val="B85042"/>
                </a:solidFill>
                <a:latin typeface="Calibri" pitchFamily="34" charset="0"/>
                <a:ea typeface="Calibri" pitchFamily="34" charset="-122"/>
                <a:cs typeface="Calibri" pitchFamily="34" charset="-120"/>
              </a:rPr>
              <a:t>INSIGHT</a:t>
            </a:r>
            <a:endParaRPr lang="en-US" sz="1200" dirty="0"/>
          </a:p>
        </p:txBody>
      </p:sp>
      <p:sp>
        <p:nvSpPr>
          <p:cNvPr id="8" name="Text 5"/>
          <p:cNvSpPr/>
          <p:nvPr/>
        </p:nvSpPr>
        <p:spPr>
          <a:xfrm>
            <a:off x="8869680" y="1737360"/>
            <a:ext cx="2560320" cy="1005840"/>
          </a:xfrm>
          <a:prstGeom prst="rect">
            <a:avLst/>
          </a:prstGeom>
          <a:noFill/>
          <a:ln/>
        </p:spPr>
        <p:txBody>
          <a:bodyPr wrap="square" rtlCol="0" anchor="ctr"/>
          <a:lstStyle/>
          <a:p>
            <a:pPr marL="0" indent="0">
              <a:lnSpc>
                <a:spcPct val="110000"/>
              </a:lnSpc>
              <a:buNone/>
            </a:pPr>
            <a:r>
              <a:rPr lang="en-US" sz="1700" b="1" dirty="0">
                <a:solidFill>
                  <a:srgbClr val="FFFFFF"/>
                </a:solidFill>
                <a:latin typeface="Cambria" pitchFamily="34" charset="0"/>
                <a:ea typeface="Cambria" pitchFamily="34" charset="-122"/>
                <a:cs typeface="Cambria" pitchFamily="34" charset="-120"/>
              </a:rPr>
              <a:t>Higher stress, worse sleep</a:t>
            </a:r>
            <a:endParaRPr lang="en-US" sz="1700" dirty="0"/>
          </a:p>
        </p:txBody>
      </p:sp>
      <p:sp>
        <p:nvSpPr>
          <p:cNvPr id="9" name="Text 6"/>
          <p:cNvSpPr/>
          <p:nvPr/>
        </p:nvSpPr>
        <p:spPr>
          <a:xfrm>
            <a:off x="8869680" y="2788920"/>
            <a:ext cx="2560320" cy="3200400"/>
          </a:xfrm>
          <a:prstGeom prst="rect">
            <a:avLst/>
          </a:prstGeom>
          <a:noFill/>
          <a:ln/>
        </p:spPr>
        <p:txBody>
          <a:bodyPr wrap="square" rtlCol="0" anchor="ctr"/>
          <a:lstStyle/>
          <a:p>
            <a:pPr marL="0" indent="0">
              <a:lnSpc>
                <a:spcPct val="130000"/>
              </a:lnSpc>
              <a:buNone/>
            </a:pPr>
            <a:r>
              <a:rPr lang="en-US" sz="1250" dirty="0">
                <a:solidFill>
                  <a:srgbClr val="F4F1EC"/>
                </a:solidFill>
                <a:latin typeface="Calibri" pitchFamily="34" charset="0"/>
                <a:ea typeface="Calibri" pitchFamily="34" charset="-122"/>
                <a:cs typeface="Calibri" pitchFamily="34" charset="-120"/>
              </a:rPr>
              <a:t>As stress level rises, quality of sleep drops sharply. People with Sleep Apnea or Insomnia cluster in the high stress, low quality region, stress appears closely tied to disordered sleep, not just poor sleep quality alone.</a:t>
            </a:r>
            <a:endParaRPr lang="en-US" sz="1250" dirty="0"/>
          </a:p>
        </p:txBody>
      </p:sp>
      <p:sp>
        <p:nvSpPr>
          <p:cNvPr id="10" name="Text 7"/>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601200" cy="594360"/>
          </a:xfrm>
          <a:prstGeom prst="rect">
            <a:avLst/>
          </a:prstGeom>
          <a:noFill/>
          <a:ln/>
        </p:spPr>
        <p:txBody>
          <a:bodyPr wrap="square" rtlCol="0" anchor="ctr"/>
          <a:lstStyle/>
          <a:p>
            <a:pPr marL="0" indent="0">
              <a:buNone/>
            </a:pPr>
            <a:r>
              <a:rPr lang="en-US" sz="2600" b="1" dirty="0">
                <a:solidFill>
                  <a:srgbClr val="263238"/>
                </a:solidFill>
                <a:latin typeface="Cambria" pitchFamily="34" charset="0"/>
                <a:ea typeface="Cambria" pitchFamily="34" charset="-122"/>
                <a:cs typeface="Cambria" pitchFamily="34" charset="-120"/>
              </a:rPr>
              <a:t>Quality of Sleep by Occupation</a:t>
            </a:r>
            <a:endParaRPr lang="en-US" sz="2600" dirty="0"/>
          </a:p>
        </p:txBody>
      </p:sp>
      <p:sp>
        <p:nvSpPr>
          <p:cNvPr id="3" name="Shape 1"/>
          <p:cNvSpPr/>
          <p:nvPr/>
        </p:nvSpPr>
        <p:spPr>
          <a:xfrm>
            <a:off x="548640" y="932688"/>
            <a:ext cx="502920" cy="45720"/>
          </a:xfrm>
          <a:prstGeom prst="rect">
            <a:avLst/>
          </a:prstGeom>
          <a:solidFill>
            <a:srgbClr val="69A297"/>
          </a:solidFill>
          <a:ln/>
        </p:spPr>
      </p:sp>
      <p:sp>
        <p:nvSpPr>
          <p:cNvPr id="4" name="Shape 2"/>
          <p:cNvSpPr/>
          <p:nvPr/>
        </p:nvSpPr>
        <p:spPr>
          <a:xfrm>
            <a:off x="457200" y="1188720"/>
            <a:ext cx="7955280" cy="5074920"/>
          </a:xfrm>
          <a:prstGeom prst="roundRect">
            <a:avLst>
              <a:gd name="adj" fmla="val 1441"/>
            </a:avLst>
          </a:prstGeom>
          <a:solidFill>
            <a:srgbClr val="F4F1EC"/>
          </a:solidFill>
          <a:ln/>
        </p:spPr>
      </p:sp>
      <p:pic>
        <p:nvPicPr>
          <p:cNvPr id="5" name="Image 0" descr="chart2_occupation.png"/>
          <p:cNvPicPr>
            <a:picLocks noChangeAspect="1"/>
          </p:cNvPicPr>
          <p:nvPr/>
        </p:nvPicPr>
        <p:blipFill>
          <a:blip r:embed="rId3"/>
          <a:stretch>
            <a:fillRect/>
          </a:stretch>
        </p:blipFill>
        <p:spPr>
          <a:xfrm>
            <a:off x="685800" y="1371600"/>
            <a:ext cx="7498080" cy="4663440"/>
          </a:xfrm>
          <a:prstGeom prst="rect">
            <a:avLst/>
          </a:prstGeom>
        </p:spPr>
      </p:pic>
      <p:sp>
        <p:nvSpPr>
          <p:cNvPr id="6" name="Shape 3"/>
          <p:cNvSpPr/>
          <p:nvPr/>
        </p:nvSpPr>
        <p:spPr>
          <a:xfrm>
            <a:off x="8595360" y="1188720"/>
            <a:ext cx="3063240" cy="5074920"/>
          </a:xfrm>
          <a:prstGeom prst="roundRect">
            <a:avLst>
              <a:gd name="adj" fmla="val 2388"/>
            </a:avLst>
          </a:prstGeom>
          <a:solidFill>
            <a:srgbClr val="1F3A3D"/>
          </a:solidFill>
          <a:ln/>
        </p:spPr>
      </p:sp>
      <p:sp>
        <p:nvSpPr>
          <p:cNvPr id="7" name="Text 4"/>
          <p:cNvSpPr/>
          <p:nvPr/>
        </p:nvSpPr>
        <p:spPr>
          <a:xfrm>
            <a:off x="8869680" y="1417320"/>
            <a:ext cx="2560320" cy="320040"/>
          </a:xfrm>
          <a:prstGeom prst="rect">
            <a:avLst/>
          </a:prstGeom>
          <a:noFill/>
          <a:ln/>
        </p:spPr>
        <p:txBody>
          <a:bodyPr wrap="square" rtlCol="0" anchor="ctr"/>
          <a:lstStyle/>
          <a:p>
            <a:pPr marL="0" indent="0">
              <a:buNone/>
            </a:pPr>
            <a:r>
              <a:rPr lang="en-US" sz="1200" b="1" kern="0" spc="200" dirty="0">
                <a:solidFill>
                  <a:srgbClr val="69A297"/>
                </a:solidFill>
                <a:latin typeface="Calibri" pitchFamily="34" charset="0"/>
                <a:ea typeface="Calibri" pitchFamily="34" charset="-122"/>
                <a:cs typeface="Calibri" pitchFamily="34" charset="-120"/>
              </a:rPr>
              <a:t>INSIGHT</a:t>
            </a:r>
            <a:endParaRPr lang="en-US" sz="1200" dirty="0"/>
          </a:p>
        </p:txBody>
      </p:sp>
      <p:sp>
        <p:nvSpPr>
          <p:cNvPr id="8" name="Text 5"/>
          <p:cNvSpPr/>
          <p:nvPr/>
        </p:nvSpPr>
        <p:spPr>
          <a:xfrm>
            <a:off x="8869680" y="1737360"/>
            <a:ext cx="2560320" cy="1005840"/>
          </a:xfrm>
          <a:prstGeom prst="rect">
            <a:avLst/>
          </a:prstGeom>
          <a:noFill/>
          <a:ln/>
        </p:spPr>
        <p:txBody>
          <a:bodyPr wrap="square" rtlCol="0" anchor="ctr"/>
          <a:lstStyle/>
          <a:p>
            <a:pPr marL="0" indent="0">
              <a:lnSpc>
                <a:spcPct val="110000"/>
              </a:lnSpc>
              <a:buNone/>
            </a:pPr>
            <a:r>
              <a:rPr lang="en-US" sz="1700" b="1" dirty="0">
                <a:solidFill>
                  <a:srgbClr val="FFFFFF"/>
                </a:solidFill>
                <a:latin typeface="Cambria" pitchFamily="34" charset="0"/>
                <a:ea typeface="Cambria" pitchFamily="34" charset="-122"/>
                <a:cs typeface="Cambria" pitchFamily="34" charset="-120"/>
              </a:rPr>
              <a:t>Occupation matters</a:t>
            </a:r>
            <a:endParaRPr lang="en-US" sz="1700" dirty="0"/>
          </a:p>
        </p:txBody>
      </p:sp>
      <p:sp>
        <p:nvSpPr>
          <p:cNvPr id="9" name="Text 6"/>
          <p:cNvSpPr/>
          <p:nvPr/>
        </p:nvSpPr>
        <p:spPr>
          <a:xfrm>
            <a:off x="8869680" y="2788920"/>
            <a:ext cx="2560320" cy="3200400"/>
          </a:xfrm>
          <a:prstGeom prst="rect">
            <a:avLst/>
          </a:prstGeom>
          <a:noFill/>
          <a:ln/>
        </p:spPr>
        <p:txBody>
          <a:bodyPr wrap="square" rtlCol="0" anchor="ctr"/>
          <a:lstStyle/>
          <a:p>
            <a:pPr marL="0" indent="0">
              <a:lnSpc>
                <a:spcPct val="130000"/>
              </a:lnSpc>
              <a:buNone/>
            </a:pPr>
            <a:r>
              <a:rPr lang="en-US" sz="1250" dirty="0">
                <a:solidFill>
                  <a:srgbClr val="F4F1EC"/>
                </a:solidFill>
                <a:latin typeface="Calibri" pitchFamily="34" charset="0"/>
                <a:ea typeface="Calibri" pitchFamily="34" charset="-122"/>
                <a:cs typeface="Calibri" pitchFamily="34" charset="-120"/>
              </a:rPr>
              <a:t>Engineers have the highest median sleep quality (9.0, n=63). Nurses' box looks tall, but their median is only 6.0, their scores are just highly spread out, from 5 to 9. Scientist and Sales Representative look lowest, but with only 4 and 2 people each, that pattern isn't reliable.</a:t>
            </a:r>
            <a:endParaRPr lang="en-US" sz="1250" dirty="0"/>
          </a:p>
        </p:txBody>
      </p:sp>
      <p:sp>
        <p:nvSpPr>
          <p:cNvPr id="10" name="Text 7"/>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601200" cy="594360"/>
          </a:xfrm>
          <a:prstGeom prst="rect">
            <a:avLst/>
          </a:prstGeom>
          <a:noFill/>
          <a:ln/>
        </p:spPr>
        <p:txBody>
          <a:bodyPr wrap="square" rtlCol="0" anchor="ctr"/>
          <a:lstStyle/>
          <a:p>
            <a:pPr marL="0" indent="0">
              <a:buNone/>
            </a:pPr>
            <a:r>
              <a:rPr lang="en-US" sz="2600" b="1" dirty="0">
                <a:solidFill>
                  <a:srgbClr val="263238"/>
                </a:solidFill>
                <a:latin typeface="Cambria" pitchFamily="34" charset="0"/>
                <a:ea typeface="Cambria" pitchFamily="34" charset="-122"/>
                <a:cs typeface="Cambria" pitchFamily="34" charset="-120"/>
              </a:rPr>
              <a:t>Sleep Disorder Count by BMI Category</a:t>
            </a:r>
            <a:endParaRPr lang="en-US" sz="2600" dirty="0"/>
          </a:p>
        </p:txBody>
      </p:sp>
      <p:sp>
        <p:nvSpPr>
          <p:cNvPr id="3" name="Shape 1"/>
          <p:cNvSpPr/>
          <p:nvPr/>
        </p:nvSpPr>
        <p:spPr>
          <a:xfrm>
            <a:off x="548640" y="932688"/>
            <a:ext cx="502920" cy="45720"/>
          </a:xfrm>
          <a:prstGeom prst="rect">
            <a:avLst/>
          </a:prstGeom>
          <a:solidFill>
            <a:srgbClr val="50808E"/>
          </a:solidFill>
          <a:ln/>
        </p:spPr>
      </p:sp>
      <p:sp>
        <p:nvSpPr>
          <p:cNvPr id="4" name="Shape 2"/>
          <p:cNvSpPr/>
          <p:nvPr/>
        </p:nvSpPr>
        <p:spPr>
          <a:xfrm>
            <a:off x="457200" y="1188720"/>
            <a:ext cx="7955280" cy="5074920"/>
          </a:xfrm>
          <a:prstGeom prst="roundRect">
            <a:avLst>
              <a:gd name="adj" fmla="val 1441"/>
            </a:avLst>
          </a:prstGeom>
          <a:solidFill>
            <a:srgbClr val="F4F1EC"/>
          </a:solidFill>
          <a:ln/>
        </p:spPr>
      </p:sp>
      <p:pic>
        <p:nvPicPr>
          <p:cNvPr id="5" name="Image 0" descr="chart3_bmi_disorder.png"/>
          <p:cNvPicPr>
            <a:picLocks noChangeAspect="1"/>
          </p:cNvPicPr>
          <p:nvPr/>
        </p:nvPicPr>
        <p:blipFill>
          <a:blip r:embed="rId3"/>
          <a:stretch>
            <a:fillRect/>
          </a:stretch>
        </p:blipFill>
        <p:spPr>
          <a:xfrm>
            <a:off x="685800" y="1371600"/>
            <a:ext cx="7498080" cy="4663440"/>
          </a:xfrm>
          <a:prstGeom prst="rect">
            <a:avLst/>
          </a:prstGeom>
        </p:spPr>
      </p:pic>
      <p:sp>
        <p:nvSpPr>
          <p:cNvPr id="6" name="Shape 3"/>
          <p:cNvSpPr/>
          <p:nvPr/>
        </p:nvSpPr>
        <p:spPr>
          <a:xfrm>
            <a:off x="8595360" y="1188720"/>
            <a:ext cx="3063240" cy="5074920"/>
          </a:xfrm>
          <a:prstGeom prst="roundRect">
            <a:avLst>
              <a:gd name="adj" fmla="val 2388"/>
            </a:avLst>
          </a:prstGeom>
          <a:solidFill>
            <a:srgbClr val="1F3A3D"/>
          </a:solidFill>
          <a:ln/>
        </p:spPr>
      </p:sp>
      <p:sp>
        <p:nvSpPr>
          <p:cNvPr id="7" name="Text 4"/>
          <p:cNvSpPr/>
          <p:nvPr/>
        </p:nvSpPr>
        <p:spPr>
          <a:xfrm>
            <a:off x="8869680" y="1417320"/>
            <a:ext cx="2560320" cy="32004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INSIGHT</a:t>
            </a:r>
            <a:endParaRPr lang="en-US" sz="1200" dirty="0"/>
          </a:p>
        </p:txBody>
      </p:sp>
      <p:sp>
        <p:nvSpPr>
          <p:cNvPr id="8" name="Text 5"/>
          <p:cNvSpPr/>
          <p:nvPr/>
        </p:nvSpPr>
        <p:spPr>
          <a:xfrm>
            <a:off x="8869680" y="1737360"/>
            <a:ext cx="2560320" cy="1005840"/>
          </a:xfrm>
          <a:prstGeom prst="rect">
            <a:avLst/>
          </a:prstGeom>
          <a:noFill/>
          <a:ln/>
        </p:spPr>
        <p:txBody>
          <a:bodyPr wrap="square" rtlCol="0" anchor="ctr"/>
          <a:lstStyle/>
          <a:p>
            <a:pPr marL="0" indent="0">
              <a:lnSpc>
                <a:spcPct val="110000"/>
              </a:lnSpc>
              <a:buNone/>
            </a:pPr>
            <a:r>
              <a:rPr lang="en-US" sz="1700" b="1" dirty="0">
                <a:solidFill>
                  <a:srgbClr val="FFFFFF"/>
                </a:solidFill>
                <a:latin typeface="Cambria" pitchFamily="34" charset="0"/>
                <a:ea typeface="Cambria" pitchFamily="34" charset="-122"/>
                <a:cs typeface="Cambria" pitchFamily="34" charset="-120"/>
              </a:rPr>
              <a:t>BMI is the strongest link</a:t>
            </a:r>
            <a:endParaRPr lang="en-US" sz="1700" dirty="0"/>
          </a:p>
        </p:txBody>
      </p:sp>
      <p:sp>
        <p:nvSpPr>
          <p:cNvPr id="9" name="Text 6"/>
          <p:cNvSpPr/>
          <p:nvPr/>
        </p:nvSpPr>
        <p:spPr>
          <a:xfrm>
            <a:off x="8869680" y="2788920"/>
            <a:ext cx="2560320" cy="3200400"/>
          </a:xfrm>
          <a:prstGeom prst="rect">
            <a:avLst/>
          </a:prstGeom>
          <a:noFill/>
          <a:ln/>
        </p:spPr>
        <p:txBody>
          <a:bodyPr wrap="square" rtlCol="0" anchor="ctr"/>
          <a:lstStyle/>
          <a:p>
            <a:pPr marL="0" indent="0">
              <a:lnSpc>
                <a:spcPct val="130000"/>
              </a:lnSpc>
              <a:buNone/>
            </a:pPr>
            <a:r>
              <a:rPr lang="en-US" sz="1250" dirty="0">
                <a:solidFill>
                  <a:srgbClr val="F4F1EC"/>
                </a:solidFill>
                <a:latin typeface="Calibri" pitchFamily="34" charset="0"/>
                <a:ea typeface="Calibri" pitchFamily="34" charset="-122"/>
                <a:cs typeface="Calibri" pitchFamily="34" charset="-120"/>
              </a:rPr>
              <a:t>People with Normal BMI overwhelmingly report no sleep disorder. Overweight individuals show a dramatic jump in both Sleep Apnea and Insomnia, despite being a smaller group. Obese individuals show disorders exclusively.</a:t>
            </a:r>
            <a:endParaRPr lang="en-US" sz="1250" dirty="0"/>
          </a:p>
        </p:txBody>
      </p:sp>
      <p:sp>
        <p:nvSpPr>
          <p:cNvPr id="10" name="Text 7"/>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3D"/>
        </a:solidFill>
        <a:effectLst/>
      </p:bgPr>
    </p:bg>
    <p:spTree>
      <p:nvGrpSpPr>
        <p:cNvPr id="1" name=""/>
        <p:cNvGrpSpPr/>
        <p:nvPr/>
      </p:nvGrpSpPr>
      <p:grpSpPr>
        <a:xfrm>
          <a:off x="0" y="0"/>
          <a:ext cx="0" cy="0"/>
          <a:chOff x="0" y="0"/>
          <a:chExt cx="0" cy="0"/>
        </a:xfrm>
      </p:grpSpPr>
      <p:sp>
        <p:nvSpPr>
          <p:cNvPr id="2" name="Shape 0"/>
          <p:cNvSpPr/>
          <p:nvPr/>
        </p:nvSpPr>
        <p:spPr>
          <a:xfrm>
            <a:off x="-2011680" y="4206240"/>
            <a:ext cx="5029200" cy="5029200"/>
          </a:xfrm>
          <a:prstGeom prst="ellipse">
            <a:avLst/>
          </a:prstGeom>
          <a:solidFill>
            <a:srgbClr val="50808E">
              <a:alpha val="40000"/>
            </a:srgbClr>
          </a:solidFill>
          <a:ln/>
        </p:spPr>
      </p:sp>
      <p:sp>
        <p:nvSpPr>
          <p:cNvPr id="3" name="Text 1"/>
          <p:cNvSpPr/>
          <p:nvPr/>
        </p:nvSpPr>
        <p:spPr>
          <a:xfrm>
            <a:off x="548640" y="457200"/>
            <a:ext cx="7315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Insights</a:t>
            </a:r>
            <a:endParaRPr lang="en-US" sz="3000" dirty="0"/>
          </a:p>
        </p:txBody>
      </p:sp>
      <p:sp>
        <p:nvSpPr>
          <p:cNvPr id="4" name="Shape 2"/>
          <p:cNvSpPr/>
          <p:nvPr/>
        </p:nvSpPr>
        <p:spPr>
          <a:xfrm>
            <a:off x="548640" y="1097280"/>
            <a:ext cx="502920" cy="54864"/>
          </a:xfrm>
          <a:prstGeom prst="rect">
            <a:avLst/>
          </a:prstGeom>
          <a:solidFill>
            <a:srgbClr val="E7A94A"/>
          </a:solidFill>
          <a:ln/>
        </p:spPr>
      </p:sp>
      <p:sp>
        <p:nvSpPr>
          <p:cNvPr id="5" name="Shape 3"/>
          <p:cNvSpPr/>
          <p:nvPr/>
        </p:nvSpPr>
        <p:spPr>
          <a:xfrm>
            <a:off x="640080" y="1554480"/>
            <a:ext cx="685800" cy="685800"/>
          </a:xfrm>
          <a:prstGeom prst="ellipse">
            <a:avLst/>
          </a:prstGeom>
          <a:solidFill>
            <a:srgbClr val="B85042"/>
          </a:solidFill>
          <a:ln/>
        </p:spPr>
      </p:sp>
      <p:sp>
        <p:nvSpPr>
          <p:cNvPr id="6" name="Text 4"/>
          <p:cNvSpPr/>
          <p:nvPr/>
        </p:nvSpPr>
        <p:spPr>
          <a:xfrm>
            <a:off x="640080" y="1554480"/>
            <a:ext cx="685800" cy="685800"/>
          </a:xfrm>
          <a:prstGeom prst="rect">
            <a:avLst/>
          </a:prstGeom>
          <a:noFill/>
          <a:ln/>
        </p:spPr>
        <p:txBody>
          <a:bodyPr wrap="square" rtlCol="0" anchor="ctr"/>
          <a:lstStyle/>
          <a:p>
            <a:pPr marL="0" indent="0" algn="ctr">
              <a:buNone/>
            </a:pPr>
            <a:r>
              <a:rPr lang="en-US" sz="2200" b="1" dirty="0">
                <a:solidFill>
                  <a:srgbClr val="1F3A3D"/>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554480" y="1508760"/>
            <a:ext cx="9692640" cy="41148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Stress drives sleep quality down</a:t>
            </a:r>
            <a:endParaRPr lang="en-US" sz="1700" dirty="0"/>
          </a:p>
        </p:txBody>
      </p:sp>
      <p:sp>
        <p:nvSpPr>
          <p:cNvPr id="8" name="Text 6"/>
          <p:cNvSpPr/>
          <p:nvPr/>
        </p:nvSpPr>
        <p:spPr>
          <a:xfrm>
            <a:off x="1554480" y="1920240"/>
            <a:ext cx="9692640" cy="594360"/>
          </a:xfrm>
          <a:prstGeom prst="rect">
            <a:avLst/>
          </a:prstGeom>
          <a:noFill/>
          <a:ln/>
        </p:spPr>
        <p:txBody>
          <a:bodyPr wrap="square" rtlCol="0" anchor="ctr"/>
          <a:lstStyle/>
          <a:p>
            <a:pPr marL="0" indent="0">
              <a:lnSpc>
                <a:spcPct val="120000"/>
              </a:lnSpc>
              <a:buNone/>
            </a:pPr>
            <a:r>
              <a:rPr lang="en-US" sz="1600" dirty="0">
                <a:solidFill>
                  <a:srgbClr val="F4F1EC"/>
                </a:solidFill>
                <a:latin typeface="Calibri" pitchFamily="34" charset="0"/>
                <a:ea typeface="Calibri" pitchFamily="34" charset="-122"/>
                <a:cs typeface="Calibri" pitchFamily="34" charset="-120"/>
              </a:rPr>
              <a:t>Higher self reported stress consistently predicts lower sleep quality and a higher chance of a diagnosed sleep disorder.</a:t>
            </a:r>
            <a:endParaRPr lang="en-US" sz="1600" dirty="0"/>
          </a:p>
        </p:txBody>
      </p:sp>
      <p:sp>
        <p:nvSpPr>
          <p:cNvPr id="9" name="Shape 7"/>
          <p:cNvSpPr/>
          <p:nvPr/>
        </p:nvSpPr>
        <p:spPr>
          <a:xfrm>
            <a:off x="640080" y="2971800"/>
            <a:ext cx="685800" cy="685800"/>
          </a:xfrm>
          <a:prstGeom prst="ellipse">
            <a:avLst/>
          </a:prstGeom>
          <a:solidFill>
            <a:srgbClr val="E7A94A"/>
          </a:solidFill>
          <a:ln/>
        </p:spPr>
      </p:sp>
      <p:sp>
        <p:nvSpPr>
          <p:cNvPr id="10" name="Text 8"/>
          <p:cNvSpPr/>
          <p:nvPr/>
        </p:nvSpPr>
        <p:spPr>
          <a:xfrm>
            <a:off x="640080" y="2971800"/>
            <a:ext cx="685800" cy="685800"/>
          </a:xfrm>
          <a:prstGeom prst="rect">
            <a:avLst/>
          </a:prstGeom>
          <a:noFill/>
          <a:ln/>
        </p:spPr>
        <p:txBody>
          <a:bodyPr wrap="square" rtlCol="0" anchor="ctr"/>
          <a:lstStyle/>
          <a:p>
            <a:pPr marL="0" indent="0" algn="ctr">
              <a:buNone/>
            </a:pPr>
            <a:r>
              <a:rPr lang="en-US" sz="2200" b="1" dirty="0">
                <a:solidFill>
                  <a:srgbClr val="1F3A3D"/>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1554480" y="2926080"/>
            <a:ext cx="9692640" cy="41148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Weight is the strongest single factor</a:t>
            </a:r>
            <a:endParaRPr lang="en-US" sz="1700" dirty="0"/>
          </a:p>
        </p:txBody>
      </p:sp>
      <p:sp>
        <p:nvSpPr>
          <p:cNvPr id="12" name="Text 10"/>
          <p:cNvSpPr/>
          <p:nvPr/>
        </p:nvSpPr>
        <p:spPr>
          <a:xfrm>
            <a:off x="1554480" y="3337560"/>
            <a:ext cx="9692640" cy="594360"/>
          </a:xfrm>
          <a:prstGeom prst="rect">
            <a:avLst/>
          </a:prstGeom>
          <a:noFill/>
          <a:ln/>
        </p:spPr>
        <p:txBody>
          <a:bodyPr wrap="square" rtlCol="0" anchor="ctr"/>
          <a:lstStyle/>
          <a:p>
            <a:pPr marL="0" indent="0">
              <a:lnSpc>
                <a:spcPct val="120000"/>
              </a:lnSpc>
              <a:buNone/>
            </a:pPr>
            <a:r>
              <a:rPr lang="en-US" sz="1600" dirty="0">
                <a:solidFill>
                  <a:srgbClr val="F4F1EC"/>
                </a:solidFill>
                <a:latin typeface="Calibri" pitchFamily="34" charset="0"/>
                <a:ea typeface="Calibri" pitchFamily="34" charset="-122"/>
                <a:cs typeface="Calibri" pitchFamily="34" charset="-120"/>
              </a:rPr>
              <a:t>Overweight and Obese individuals face far higher rates of Sleep Apnea and Insomnia than those with a Normal BMI.</a:t>
            </a:r>
            <a:endParaRPr lang="en-US" sz="1600" dirty="0"/>
          </a:p>
        </p:txBody>
      </p:sp>
      <p:sp>
        <p:nvSpPr>
          <p:cNvPr id="13" name="Shape 11"/>
          <p:cNvSpPr/>
          <p:nvPr/>
        </p:nvSpPr>
        <p:spPr>
          <a:xfrm>
            <a:off x="640080" y="4389120"/>
            <a:ext cx="685800" cy="685800"/>
          </a:xfrm>
          <a:prstGeom prst="ellipse">
            <a:avLst/>
          </a:prstGeom>
          <a:solidFill>
            <a:srgbClr val="84B59F"/>
          </a:solidFill>
          <a:ln/>
        </p:spPr>
      </p:sp>
      <p:sp>
        <p:nvSpPr>
          <p:cNvPr id="14" name="Text 12"/>
          <p:cNvSpPr/>
          <p:nvPr/>
        </p:nvSpPr>
        <p:spPr>
          <a:xfrm>
            <a:off x="640080" y="4389120"/>
            <a:ext cx="685800" cy="685800"/>
          </a:xfrm>
          <a:prstGeom prst="rect">
            <a:avLst/>
          </a:prstGeom>
          <a:noFill/>
          <a:ln/>
        </p:spPr>
        <p:txBody>
          <a:bodyPr wrap="square" rtlCol="0" anchor="ctr"/>
          <a:lstStyle/>
          <a:p>
            <a:pPr marL="0" indent="0" algn="ctr">
              <a:buNone/>
            </a:pPr>
            <a:r>
              <a:rPr lang="en-US" sz="2200" b="1" dirty="0">
                <a:solidFill>
                  <a:srgbClr val="1F3A3D"/>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1554480" y="4343400"/>
            <a:ext cx="9692640" cy="41148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Occupation reflects lifestyle pressure</a:t>
            </a:r>
            <a:endParaRPr lang="en-US" sz="1700" dirty="0"/>
          </a:p>
        </p:txBody>
      </p:sp>
      <p:sp>
        <p:nvSpPr>
          <p:cNvPr id="16" name="Text 14"/>
          <p:cNvSpPr/>
          <p:nvPr/>
        </p:nvSpPr>
        <p:spPr>
          <a:xfrm>
            <a:off x="1554480" y="4754880"/>
            <a:ext cx="9692640" cy="594360"/>
          </a:xfrm>
          <a:prstGeom prst="rect">
            <a:avLst/>
          </a:prstGeom>
          <a:noFill/>
          <a:ln/>
        </p:spPr>
        <p:txBody>
          <a:bodyPr wrap="square" rtlCol="0" anchor="ctr"/>
          <a:lstStyle/>
          <a:p>
            <a:pPr marL="0" indent="0">
              <a:lnSpc>
                <a:spcPct val="120000"/>
              </a:lnSpc>
              <a:buNone/>
            </a:pPr>
            <a:r>
              <a:rPr lang="en-US" sz="1600" dirty="0">
                <a:solidFill>
                  <a:srgbClr val="F4F1EC"/>
                </a:solidFill>
                <a:latin typeface="Calibri" pitchFamily="34" charset="0"/>
                <a:ea typeface="Calibri" pitchFamily="34" charset="-122"/>
                <a:cs typeface="Calibri" pitchFamily="34" charset="-120"/>
              </a:rPr>
              <a:t>Jobs with high median sleep quality (Nurses, Engineers) contrast sharply with lower scoring roles (Scientists, Sales),  likely a proxy for workload and stress.</a:t>
            </a:r>
            <a:endParaRPr lang="en-US" sz="1600" dirty="0"/>
          </a:p>
        </p:txBody>
      </p:sp>
      <p:sp>
        <p:nvSpPr>
          <p:cNvPr id="17" name="Text 15"/>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marL="0" indent="0">
              <a:buNone/>
            </a:pPr>
            <a:r>
              <a:rPr lang="en-US" sz="3000" b="1" dirty="0">
                <a:solidFill>
                  <a:srgbClr val="263238"/>
                </a:solidFill>
                <a:latin typeface="Cambria" pitchFamily="34" charset="0"/>
                <a:ea typeface="Cambria" pitchFamily="34" charset="-122"/>
                <a:cs typeface="Cambria" pitchFamily="34" charset="-120"/>
              </a:rPr>
              <a:t>Tools &amp; Process</a:t>
            </a:r>
            <a:endParaRPr lang="en-US" sz="3000" dirty="0"/>
          </a:p>
        </p:txBody>
      </p:sp>
      <p:sp>
        <p:nvSpPr>
          <p:cNvPr id="3" name="Shape 1"/>
          <p:cNvSpPr/>
          <p:nvPr/>
        </p:nvSpPr>
        <p:spPr>
          <a:xfrm>
            <a:off x="548640" y="1051560"/>
            <a:ext cx="502920" cy="54864"/>
          </a:xfrm>
          <a:prstGeom prst="rect">
            <a:avLst/>
          </a:prstGeom>
          <a:solidFill>
            <a:srgbClr val="E7A94A"/>
          </a:solidFill>
          <a:ln/>
        </p:spPr>
      </p:sp>
      <p:sp>
        <p:nvSpPr>
          <p:cNvPr id="4" name="Text 2"/>
          <p:cNvSpPr/>
          <p:nvPr/>
        </p:nvSpPr>
        <p:spPr>
          <a:xfrm>
            <a:off x="548640" y="1280160"/>
            <a:ext cx="10515600" cy="457200"/>
          </a:xfrm>
          <a:prstGeom prst="rect">
            <a:avLst/>
          </a:prstGeom>
          <a:noFill/>
          <a:ln/>
        </p:spPr>
        <p:txBody>
          <a:bodyPr wrap="square" rtlCol="0" anchor="ctr"/>
          <a:lstStyle/>
          <a:p>
            <a:pPr marL="0" indent="0">
              <a:buNone/>
            </a:pPr>
            <a:r>
              <a:rPr lang="en-US" sz="1400" dirty="0">
                <a:solidFill>
                  <a:srgbClr val="5B6B68"/>
                </a:solidFill>
                <a:latin typeface="Calibri" pitchFamily="34" charset="0"/>
                <a:ea typeface="Calibri" pitchFamily="34" charset="-122"/>
                <a:cs typeface="Calibri" pitchFamily="34" charset="-120"/>
              </a:rPr>
              <a:t>Built entirely in Python, using Pandas for data cleaning and Seaborn / Matplotlib for visualization.</a:t>
            </a:r>
            <a:endParaRPr lang="en-US" sz="1400" dirty="0"/>
          </a:p>
        </p:txBody>
      </p:sp>
      <p:sp>
        <p:nvSpPr>
          <p:cNvPr id="5" name="Shape 3"/>
          <p:cNvSpPr/>
          <p:nvPr/>
        </p:nvSpPr>
        <p:spPr>
          <a:xfrm>
            <a:off x="1417320" y="3200400"/>
            <a:ext cx="9418320" cy="0"/>
          </a:xfrm>
          <a:prstGeom prst="line">
            <a:avLst/>
          </a:prstGeom>
          <a:noFill/>
          <a:ln w="25400">
            <a:solidFill>
              <a:srgbClr val="D8D3C8"/>
            </a:solidFill>
            <a:prstDash val="dash"/>
          </a:ln>
        </p:spPr>
      </p:sp>
      <p:sp>
        <p:nvSpPr>
          <p:cNvPr id="6" name="Shape 4"/>
          <p:cNvSpPr/>
          <p:nvPr/>
        </p:nvSpPr>
        <p:spPr>
          <a:xfrm>
            <a:off x="822960" y="2880360"/>
            <a:ext cx="685800" cy="685800"/>
          </a:xfrm>
          <a:prstGeom prst="ellipse">
            <a:avLst/>
          </a:prstGeom>
          <a:solidFill>
            <a:srgbClr val="50808E"/>
          </a:solidFill>
          <a:ln/>
        </p:spPr>
      </p:sp>
      <p:sp>
        <p:nvSpPr>
          <p:cNvPr id="7" name="Text 5"/>
          <p:cNvSpPr/>
          <p:nvPr/>
        </p:nvSpPr>
        <p:spPr>
          <a:xfrm>
            <a:off x="822960" y="2880360"/>
            <a:ext cx="685800" cy="6858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320040" y="3657600"/>
            <a:ext cx="2514600" cy="365760"/>
          </a:xfrm>
          <a:prstGeom prst="rect">
            <a:avLst/>
          </a:prstGeom>
          <a:noFill/>
          <a:ln/>
        </p:spPr>
        <p:txBody>
          <a:bodyPr wrap="square" rtlCol="0" anchor="ctr"/>
          <a:lstStyle/>
          <a:p>
            <a:pPr marL="0" indent="0" algn="ctr">
              <a:buNone/>
            </a:pPr>
            <a:r>
              <a:rPr lang="en-US" sz="1500" b="1" dirty="0">
                <a:solidFill>
                  <a:srgbClr val="263238"/>
                </a:solidFill>
                <a:latin typeface="Cambria" pitchFamily="34" charset="0"/>
                <a:ea typeface="Cambria" pitchFamily="34" charset="-122"/>
                <a:cs typeface="Cambria" pitchFamily="34" charset="-120"/>
              </a:rPr>
              <a:t>Load</a:t>
            </a:r>
            <a:endParaRPr lang="en-US" sz="1500" dirty="0"/>
          </a:p>
        </p:txBody>
      </p:sp>
      <p:sp>
        <p:nvSpPr>
          <p:cNvPr id="9" name="Text 7"/>
          <p:cNvSpPr/>
          <p:nvPr/>
        </p:nvSpPr>
        <p:spPr>
          <a:xfrm>
            <a:off x="320040" y="4023360"/>
            <a:ext cx="2514600" cy="640080"/>
          </a:xfrm>
          <a:prstGeom prst="rect">
            <a:avLst/>
          </a:prstGeom>
          <a:noFill/>
          <a:ln/>
        </p:spPr>
        <p:txBody>
          <a:bodyPr wrap="square" rtlCol="0" anchor="ctr"/>
          <a:lstStyle/>
          <a:p>
            <a:pPr marL="0" indent="0" algn="ctr">
              <a:buNone/>
            </a:pPr>
            <a:r>
              <a:rPr lang="en-US" sz="1150" dirty="0">
                <a:solidFill>
                  <a:srgbClr val="5B6B68"/>
                </a:solidFill>
                <a:latin typeface="Calibri" pitchFamily="34" charset="0"/>
                <a:ea typeface="Calibri" pitchFamily="34" charset="-122"/>
                <a:cs typeface="Calibri" pitchFamily="34" charset="-120"/>
              </a:rPr>
              <a:t>Read the CSV with Pandas</a:t>
            </a:r>
            <a:endParaRPr lang="en-US" sz="1150" dirty="0"/>
          </a:p>
        </p:txBody>
      </p:sp>
      <p:sp>
        <p:nvSpPr>
          <p:cNvPr id="10" name="Shape 8"/>
          <p:cNvSpPr/>
          <p:nvPr/>
        </p:nvSpPr>
        <p:spPr>
          <a:xfrm>
            <a:off x="3566160" y="2880360"/>
            <a:ext cx="685800" cy="685800"/>
          </a:xfrm>
          <a:prstGeom prst="ellipse">
            <a:avLst/>
          </a:prstGeom>
          <a:solidFill>
            <a:srgbClr val="69A297"/>
          </a:solidFill>
          <a:ln/>
        </p:spPr>
      </p:sp>
      <p:sp>
        <p:nvSpPr>
          <p:cNvPr id="11" name="Text 9"/>
          <p:cNvSpPr/>
          <p:nvPr/>
        </p:nvSpPr>
        <p:spPr>
          <a:xfrm>
            <a:off x="3566160" y="2880360"/>
            <a:ext cx="685800" cy="6858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063240" y="3657600"/>
            <a:ext cx="2514600" cy="365760"/>
          </a:xfrm>
          <a:prstGeom prst="rect">
            <a:avLst/>
          </a:prstGeom>
          <a:noFill/>
          <a:ln/>
        </p:spPr>
        <p:txBody>
          <a:bodyPr wrap="square" rtlCol="0" anchor="ctr"/>
          <a:lstStyle/>
          <a:p>
            <a:pPr marL="0" indent="0" algn="ctr">
              <a:buNone/>
            </a:pPr>
            <a:r>
              <a:rPr lang="en-US" sz="1500" b="1" dirty="0">
                <a:solidFill>
                  <a:srgbClr val="263238"/>
                </a:solidFill>
                <a:latin typeface="Cambria" pitchFamily="34" charset="0"/>
                <a:ea typeface="Cambria" pitchFamily="34" charset="-122"/>
                <a:cs typeface="Cambria" pitchFamily="34" charset="-120"/>
              </a:rPr>
              <a:t>Clean</a:t>
            </a:r>
            <a:endParaRPr lang="en-US" sz="1500" dirty="0"/>
          </a:p>
        </p:txBody>
      </p:sp>
      <p:sp>
        <p:nvSpPr>
          <p:cNvPr id="13" name="Text 11"/>
          <p:cNvSpPr/>
          <p:nvPr/>
        </p:nvSpPr>
        <p:spPr>
          <a:xfrm>
            <a:off x="3063240" y="4023360"/>
            <a:ext cx="2514600" cy="640080"/>
          </a:xfrm>
          <a:prstGeom prst="rect">
            <a:avLst/>
          </a:prstGeom>
          <a:noFill/>
          <a:ln/>
        </p:spPr>
        <p:txBody>
          <a:bodyPr wrap="square" rtlCol="0" anchor="ctr"/>
          <a:lstStyle/>
          <a:p>
            <a:pPr marL="0" indent="0" algn="ctr">
              <a:buNone/>
            </a:pPr>
            <a:r>
              <a:rPr lang="en-US" sz="1150" dirty="0">
                <a:solidFill>
                  <a:srgbClr val="5B6B68"/>
                </a:solidFill>
                <a:latin typeface="Calibri" pitchFamily="34" charset="0"/>
                <a:ea typeface="Calibri" pitchFamily="34" charset="-122"/>
                <a:cs typeface="Calibri" pitchFamily="34" charset="-120"/>
              </a:rPr>
              <a:t>Fix labels, split fields, handle nulls</a:t>
            </a:r>
            <a:endParaRPr lang="en-US" sz="1150" dirty="0"/>
          </a:p>
        </p:txBody>
      </p:sp>
      <p:sp>
        <p:nvSpPr>
          <p:cNvPr id="14" name="Shape 12"/>
          <p:cNvSpPr/>
          <p:nvPr/>
        </p:nvSpPr>
        <p:spPr>
          <a:xfrm>
            <a:off x="6309360" y="2880360"/>
            <a:ext cx="685800" cy="685800"/>
          </a:xfrm>
          <a:prstGeom prst="ellipse">
            <a:avLst/>
          </a:prstGeom>
          <a:solidFill>
            <a:srgbClr val="E7A94A"/>
          </a:solidFill>
          <a:ln/>
        </p:spPr>
      </p:sp>
      <p:sp>
        <p:nvSpPr>
          <p:cNvPr id="15" name="Text 13"/>
          <p:cNvSpPr/>
          <p:nvPr/>
        </p:nvSpPr>
        <p:spPr>
          <a:xfrm>
            <a:off x="6309360" y="2880360"/>
            <a:ext cx="685800" cy="6858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5806440" y="3657600"/>
            <a:ext cx="2514600" cy="365760"/>
          </a:xfrm>
          <a:prstGeom prst="rect">
            <a:avLst/>
          </a:prstGeom>
          <a:noFill/>
          <a:ln/>
        </p:spPr>
        <p:txBody>
          <a:bodyPr wrap="square" rtlCol="0" anchor="ctr"/>
          <a:lstStyle/>
          <a:p>
            <a:pPr marL="0" indent="0" algn="ctr">
              <a:buNone/>
            </a:pPr>
            <a:r>
              <a:rPr lang="en-US" sz="1500" b="1" dirty="0">
                <a:solidFill>
                  <a:srgbClr val="263238"/>
                </a:solidFill>
                <a:latin typeface="Cambria" pitchFamily="34" charset="0"/>
                <a:ea typeface="Cambria" pitchFamily="34" charset="-122"/>
                <a:cs typeface="Cambria" pitchFamily="34" charset="-120"/>
              </a:rPr>
              <a:t>Visualize</a:t>
            </a:r>
            <a:endParaRPr lang="en-US" sz="1500" dirty="0"/>
          </a:p>
        </p:txBody>
      </p:sp>
      <p:sp>
        <p:nvSpPr>
          <p:cNvPr id="17" name="Text 15"/>
          <p:cNvSpPr/>
          <p:nvPr/>
        </p:nvSpPr>
        <p:spPr>
          <a:xfrm>
            <a:off x="5806440" y="4023360"/>
            <a:ext cx="2514600" cy="640080"/>
          </a:xfrm>
          <a:prstGeom prst="rect">
            <a:avLst/>
          </a:prstGeom>
          <a:noFill/>
          <a:ln/>
        </p:spPr>
        <p:txBody>
          <a:bodyPr wrap="square" rtlCol="0" anchor="ctr"/>
          <a:lstStyle/>
          <a:p>
            <a:pPr marL="0" indent="0" algn="ctr">
              <a:buNone/>
            </a:pPr>
            <a:r>
              <a:rPr lang="en-US" sz="1150" dirty="0">
                <a:solidFill>
                  <a:srgbClr val="5B6B68"/>
                </a:solidFill>
                <a:latin typeface="Calibri" pitchFamily="34" charset="0"/>
                <a:ea typeface="Calibri" pitchFamily="34" charset="-122"/>
                <a:cs typeface="Calibri" pitchFamily="34" charset="-120"/>
              </a:rPr>
              <a:t>Build charts with Seaborn</a:t>
            </a:r>
            <a:endParaRPr lang="en-US" sz="1150" dirty="0"/>
          </a:p>
        </p:txBody>
      </p:sp>
      <p:sp>
        <p:nvSpPr>
          <p:cNvPr id="18" name="Shape 16"/>
          <p:cNvSpPr/>
          <p:nvPr/>
        </p:nvSpPr>
        <p:spPr>
          <a:xfrm>
            <a:off x="9052560" y="2880360"/>
            <a:ext cx="685800" cy="685800"/>
          </a:xfrm>
          <a:prstGeom prst="ellipse">
            <a:avLst/>
          </a:prstGeom>
          <a:solidFill>
            <a:srgbClr val="B85042"/>
          </a:solidFill>
          <a:ln/>
        </p:spPr>
      </p:sp>
      <p:sp>
        <p:nvSpPr>
          <p:cNvPr id="19" name="Text 17"/>
          <p:cNvSpPr/>
          <p:nvPr/>
        </p:nvSpPr>
        <p:spPr>
          <a:xfrm>
            <a:off x="9052560" y="2880360"/>
            <a:ext cx="685800" cy="6858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8"/>
          <p:cNvSpPr/>
          <p:nvPr/>
        </p:nvSpPr>
        <p:spPr>
          <a:xfrm>
            <a:off x="8549640" y="3657600"/>
            <a:ext cx="2514600" cy="365760"/>
          </a:xfrm>
          <a:prstGeom prst="rect">
            <a:avLst/>
          </a:prstGeom>
          <a:noFill/>
          <a:ln/>
        </p:spPr>
        <p:txBody>
          <a:bodyPr wrap="square" rtlCol="0" anchor="ctr"/>
          <a:lstStyle/>
          <a:p>
            <a:pPr marL="0" indent="0" algn="ctr">
              <a:buNone/>
            </a:pPr>
            <a:r>
              <a:rPr lang="en-US" sz="1500" b="1" dirty="0">
                <a:solidFill>
                  <a:srgbClr val="263238"/>
                </a:solidFill>
                <a:latin typeface="Cambria" pitchFamily="34" charset="0"/>
                <a:ea typeface="Cambria" pitchFamily="34" charset="-122"/>
                <a:cs typeface="Cambria" pitchFamily="34" charset="-120"/>
              </a:rPr>
              <a:t>Interpret</a:t>
            </a:r>
            <a:endParaRPr lang="en-US" sz="1500" dirty="0"/>
          </a:p>
        </p:txBody>
      </p:sp>
      <p:sp>
        <p:nvSpPr>
          <p:cNvPr id="21" name="Text 19"/>
          <p:cNvSpPr/>
          <p:nvPr/>
        </p:nvSpPr>
        <p:spPr>
          <a:xfrm>
            <a:off x="8549640" y="4023360"/>
            <a:ext cx="2514600" cy="640080"/>
          </a:xfrm>
          <a:prstGeom prst="rect">
            <a:avLst/>
          </a:prstGeom>
          <a:noFill/>
          <a:ln/>
        </p:spPr>
        <p:txBody>
          <a:bodyPr wrap="square" rtlCol="0" anchor="ctr"/>
          <a:lstStyle/>
          <a:p>
            <a:pPr marL="0" indent="0" algn="ctr">
              <a:buNone/>
            </a:pPr>
            <a:r>
              <a:rPr lang="en-US" sz="1150" dirty="0">
                <a:solidFill>
                  <a:srgbClr val="5B6B68"/>
                </a:solidFill>
                <a:latin typeface="Calibri" pitchFamily="34" charset="0"/>
                <a:ea typeface="Calibri" pitchFamily="34" charset="-122"/>
                <a:cs typeface="Calibri" pitchFamily="34" charset="-120"/>
              </a:rPr>
              <a:t>Connect findings to the question</a:t>
            </a:r>
            <a:endParaRPr lang="en-US" sz="1150" dirty="0"/>
          </a:p>
        </p:txBody>
      </p:sp>
      <p:sp>
        <p:nvSpPr>
          <p:cNvPr id="22" name="Shape 20"/>
          <p:cNvSpPr/>
          <p:nvPr/>
        </p:nvSpPr>
        <p:spPr>
          <a:xfrm>
            <a:off x="548640" y="5029200"/>
            <a:ext cx="11064240" cy="1097280"/>
          </a:xfrm>
          <a:prstGeom prst="roundRect">
            <a:avLst>
              <a:gd name="adj" fmla="val 8333"/>
            </a:avLst>
          </a:prstGeom>
          <a:solidFill>
            <a:srgbClr val="F4F1EC"/>
          </a:solidFill>
          <a:ln/>
        </p:spPr>
      </p:sp>
      <p:sp>
        <p:nvSpPr>
          <p:cNvPr id="23" name="Text 21"/>
          <p:cNvSpPr/>
          <p:nvPr/>
        </p:nvSpPr>
        <p:spPr>
          <a:xfrm>
            <a:off x="914400" y="5029200"/>
            <a:ext cx="10332720" cy="1097280"/>
          </a:xfrm>
          <a:prstGeom prst="rect">
            <a:avLst/>
          </a:prstGeom>
          <a:noFill/>
          <a:ln/>
        </p:spPr>
        <p:txBody>
          <a:bodyPr wrap="square"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Libraries used:  </a:t>
            </a:r>
            <a:r>
              <a:rPr lang="en-US" sz="1400" dirty="0">
                <a:solidFill>
                  <a:srgbClr val="5B6B68"/>
                </a:solidFill>
                <a:latin typeface="Calibri" pitchFamily="34" charset="0"/>
                <a:ea typeface="Calibri" pitchFamily="34" charset="-122"/>
                <a:cs typeface="Calibri" pitchFamily="34" charset="-120"/>
              </a:rPr>
              <a:t>pandas  •  numpy  •  seaborn  •  matplotlib</a:t>
            </a:r>
            <a:endParaRPr lang="en-US" sz="1400" dirty="0"/>
          </a:p>
        </p:txBody>
      </p:sp>
      <p:sp>
        <p:nvSpPr>
          <p:cNvPr id="24" name="Text 22"/>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A3D"/>
        </a:solidFill>
        <a:effectLst/>
      </p:bgPr>
    </p:bg>
    <p:spTree>
      <p:nvGrpSpPr>
        <p:cNvPr id="1" name=""/>
        <p:cNvGrpSpPr/>
        <p:nvPr/>
      </p:nvGrpSpPr>
      <p:grpSpPr>
        <a:xfrm>
          <a:off x="0" y="0"/>
          <a:ext cx="0" cy="0"/>
          <a:chOff x="0" y="0"/>
          <a:chExt cx="0" cy="0"/>
        </a:xfrm>
      </p:grpSpPr>
      <p:sp>
        <p:nvSpPr>
          <p:cNvPr id="2" name="Shape 0"/>
          <p:cNvSpPr/>
          <p:nvPr/>
        </p:nvSpPr>
        <p:spPr>
          <a:xfrm>
            <a:off x="9052560" y="-1828800"/>
            <a:ext cx="5943600" cy="5943600"/>
          </a:xfrm>
          <a:prstGeom prst="ellipse">
            <a:avLst/>
          </a:prstGeom>
          <a:solidFill>
            <a:srgbClr val="84B59F">
              <a:alpha val="42000"/>
            </a:srgbClr>
          </a:solidFill>
          <a:ln/>
        </p:spPr>
      </p:sp>
      <p:sp>
        <p:nvSpPr>
          <p:cNvPr id="3" name="Text 1"/>
          <p:cNvSpPr/>
          <p:nvPr/>
        </p:nvSpPr>
        <p:spPr>
          <a:xfrm>
            <a:off x="822960" y="1371600"/>
            <a:ext cx="82296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4" name="Shape 2"/>
          <p:cNvSpPr/>
          <p:nvPr/>
        </p:nvSpPr>
        <p:spPr>
          <a:xfrm>
            <a:off x="822960" y="2057400"/>
            <a:ext cx="548640" cy="54864"/>
          </a:xfrm>
          <a:prstGeom prst="rect">
            <a:avLst/>
          </a:prstGeom>
          <a:solidFill>
            <a:srgbClr val="E7A94A"/>
          </a:solidFill>
          <a:ln/>
        </p:spPr>
      </p:sp>
      <p:sp>
        <p:nvSpPr>
          <p:cNvPr id="5" name="Text 3"/>
          <p:cNvSpPr/>
          <p:nvPr/>
        </p:nvSpPr>
        <p:spPr>
          <a:xfrm>
            <a:off x="822960" y="2423160"/>
            <a:ext cx="8961120" cy="1463040"/>
          </a:xfrm>
          <a:prstGeom prst="rect">
            <a:avLst/>
          </a:prstGeom>
          <a:noFill/>
          <a:ln/>
        </p:spPr>
        <p:txBody>
          <a:bodyPr wrap="square" rtlCol="0" anchor="ctr"/>
          <a:lstStyle/>
          <a:p>
            <a:pPr marL="0" indent="0">
              <a:lnSpc>
                <a:spcPct val="130000"/>
              </a:lnSpc>
              <a:buNone/>
            </a:pPr>
            <a:r>
              <a:rPr lang="en-US" sz="1700" dirty="0">
                <a:solidFill>
                  <a:srgbClr val="F4F1EC"/>
                </a:solidFill>
                <a:latin typeface="Calibri" pitchFamily="34" charset="0"/>
                <a:ea typeface="Calibri" pitchFamily="34" charset="-122"/>
                <a:cs typeface="Calibri" pitchFamily="34" charset="-120"/>
              </a:rPr>
              <a:t>Sleep quality in this dataset is shaped most strongly by stress level and body weight, with occupation acting as a real world proxy for both. Maintaining stress and healthy weight stand out as the clearest, most actionable levers for better sleep.</a:t>
            </a:r>
            <a:endParaRPr lang="en-US" sz="1700" dirty="0"/>
          </a:p>
        </p:txBody>
      </p:sp>
      <p:sp>
        <p:nvSpPr>
          <p:cNvPr id="6" name="Text 4"/>
          <p:cNvSpPr/>
          <p:nvPr/>
        </p:nvSpPr>
        <p:spPr>
          <a:xfrm>
            <a:off x="822960" y="5120640"/>
            <a:ext cx="8229600" cy="548640"/>
          </a:xfrm>
          <a:prstGeom prst="rect">
            <a:avLst/>
          </a:prstGeom>
          <a:noFill/>
          <a:ln/>
        </p:spPr>
        <p:txBody>
          <a:bodyPr wrap="square" rtlCol="0" anchor="ctr"/>
          <a:lstStyle/>
          <a:p>
            <a:pPr marL="0" indent="0">
              <a:buNone/>
            </a:pPr>
            <a:r>
              <a:rPr lang="en-US" sz="2000" b="1" dirty="0">
                <a:solidFill>
                  <a:srgbClr val="84B59F"/>
                </a:solidFill>
                <a:latin typeface="Cambria" pitchFamily="34" charset="0"/>
                <a:ea typeface="Cambria" pitchFamily="34" charset="-122"/>
                <a:cs typeface="Cambria" pitchFamily="34" charset="-120"/>
              </a:rPr>
              <a:t>Thank you — questions welcome</a:t>
            </a:r>
            <a:endParaRPr lang="en-US" sz="2000" dirty="0"/>
          </a:p>
        </p:txBody>
      </p:sp>
      <p:sp>
        <p:nvSpPr>
          <p:cNvPr id="7" name="Text 5"/>
          <p:cNvSpPr/>
          <p:nvPr/>
        </p:nvSpPr>
        <p:spPr>
          <a:xfrm>
            <a:off x="11521440" y="6446520"/>
            <a:ext cx="457200" cy="320040"/>
          </a:xfrm>
          <a:prstGeom prst="rect">
            <a:avLst/>
          </a:prstGeom>
          <a:noFill/>
          <a:ln/>
        </p:spPr>
        <p:txBody>
          <a:bodyPr wrap="square" rtlCol="0" anchor="ctr"/>
          <a:lstStyle/>
          <a:p>
            <a:pPr marL="0" indent="0" algn="r">
              <a:buNone/>
            </a:pPr>
            <a:r>
              <a:rPr lang="en-US" sz="1000" dirty="0">
                <a:solidFill>
                  <a:srgbClr val="5B6B6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1596</Words>
  <Application>Microsoft Office PowerPoint</Application>
  <PresentationFormat>Widescreen</PresentationFormat>
  <Paragraphs>135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Junaid Ahmad</cp:lastModifiedBy>
  <cp:revision>5</cp:revision>
  <dcterms:created xsi:type="dcterms:W3CDTF">2026-09-06T14:52:24Z</dcterms:created>
  <dcterms:modified xsi:type="dcterms:W3CDTF">2026-09-14T02:13:42Z</dcterms:modified>
</cp:coreProperties>
</file>